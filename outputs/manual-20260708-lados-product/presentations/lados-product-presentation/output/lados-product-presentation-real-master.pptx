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78590-4E2B-CC9D-0AD2-EDFA47709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9C7786-AF4E-26A0-4611-5DD875FA5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68BB-B417-6CC7-5A46-8FD7B348C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5BBE4-7A73-C591-D2A1-96620654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823E8-3392-C10B-A0DF-3CB00404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46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77B2-3C4A-0A9A-7302-038CBFAA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F065-7FA9-3CFB-350D-05E1C2A58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716E80-E74A-911B-9F46-BEB3F0552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E0711-8259-A28C-C458-5BEB413A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032E7-C571-75ED-A8B7-15DAEE7F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2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84A53-542A-21FF-67AA-3C84EEA78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09C4-5E62-D605-51A5-00C01D441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5956-1A50-B91E-F56B-F606A0F84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C02FB-9FD7-7D3D-A92A-1438A4AE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103EC-A27A-E232-F960-D386A8BC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C3EF1-3B60-30D2-5FCA-591EA583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AEEAE-F67A-4059-244D-E7E0611F2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C6B4-69DD-259D-3C5C-2CB65EA8C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29EF4-9AB6-CC2D-5545-DFE8EEAAB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724FC-6560-F841-C3B2-4480DB318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E8B43-45C3-D3D3-7089-B19735C9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8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617B6-EBC0-48F8-80D5-68C17F1B0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CDDB3E-EDD7-0676-6F0D-4A3AFB63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ED2CE1-C21D-E475-24BF-2D94EF04C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023208-6F4F-C78E-7F11-A03B2CBBE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D1B86-D9FF-5C06-3052-4902CA5C6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EE6804-0F09-31A8-BC3D-CD3B570C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5D743B-75C1-4435-790A-EE4107D9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D9ECFB-5584-6357-47EC-0A0F7F80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75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87DC-F209-A6BB-E1ED-D160F4E2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B682A-00D2-728F-02E5-FA44CDD6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15423-2AFD-B099-8D41-4CBD7778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58B1B-8793-D9FD-7EA7-54F56E8C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3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3EC53-435B-0F28-5B7D-88538EC4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2AD6AA-A31B-48F0-1E65-46D37F18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EF4F7-F47B-D82D-AB0F-387DD796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94A2-B712-7D89-6FB1-9AED7C28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1A282-9733-46FD-4377-76A9AC8F7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5058C-C2D8-C5A9-1445-163CEC354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A08B5-B964-DF00-CE73-332E06A8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3E6A22-3AB2-A485-FA1A-2233B37F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443BF-4DBC-FC6C-764D-DA6F42438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3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F5D9-B228-3C12-744D-C7B9F4B6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985303-392E-DBE2-B870-0D31D882D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D0235-5BB0-B287-F384-1F919524B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E0B9F-AAA9-A3E5-8992-18A3117B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113A7-D836-66D6-3AD7-3B5810702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326F8-EF96-E27E-499B-52CE49534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08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C76D7-A848-E6A3-6C3C-795A3E1E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72ED7-595E-D5F5-DFFD-05B9177FE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3FC73-E821-A548-1303-C8E48928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7CC52-25E8-C6D7-467C-8B200CB1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19AEC-D46F-4194-03CF-4A51B881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9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ados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294D0E-FCA1-B965-4F25-3345FCDC6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812D2-53C2-7809-14D0-6032525FB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9572F-BD27-04AA-326C-BED4DDB8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313F5-E91A-3FCE-4F87-B0E3DFE77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6FD62-6A1C-3296-3DAF-0DD679A18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4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ados Dark Master">
    <p:bg>
      <p:bgPr>
        <a:solidFill>
          <a:srgbClr val="09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25A7E7-4041-1524-EFA7-9ED90F2F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42EED-1C8C-11E0-B6C9-39FE1E133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D5C8FA-2B18-902E-3E78-51599446D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DF967-F9AA-4C9C-90F7-DEA19B69754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2D1BA-EE49-70E3-D5A7-B2251C496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342B1-E50C-4D26-CD6A-2D42F4867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9DD6D-8EEC-424F-8DE9-A4DF6909282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9FF689-9599-5D6B-3A20-49D82E4FA9A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B1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2B12AE-3992-2ACF-19AA-40CCDC25B531}"/>
              </a:ext>
            </a:extLst>
          </p:cNvPr>
          <p:cNvSpPr/>
          <p:nvPr userDrawn="1"/>
        </p:nvSpPr>
        <p:spPr>
          <a:xfrm>
            <a:off x="609600" y="6477000"/>
            <a:ext cx="7239000" cy="952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63BF7-7709-B801-C24D-C85CC7097483}"/>
              </a:ext>
            </a:extLst>
          </p:cNvPr>
          <p:cNvSpPr txBox="1"/>
          <p:nvPr userDrawn="1"/>
        </p:nvSpPr>
        <p:spPr>
          <a:xfrm>
            <a:off x="628650" y="6515100"/>
            <a:ext cx="7239000" cy="1154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l"/>
            <a:r>
              <a:rPr lang="en-US" sz="750" b="0">
                <a:solidFill>
                  <a:srgbClr val="657089"/>
                </a:solidFill>
                <a:latin typeface="Aptos" panose="020B0004020202020204" pitchFamily="34" charset="0"/>
              </a:rPr>
              <a:t>Source: project docs, Graphify findings, and inspected repo structure</a:t>
            </a:r>
          </a:p>
        </p:txBody>
      </p:sp>
    </p:spTree>
    <p:extLst>
      <p:ext uri="{BB962C8B-B14F-4D97-AF65-F5344CB8AC3E}">
        <p14:creationId xmlns:p14="http://schemas.microsoft.com/office/powerpoint/2010/main" val="281010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D10839-6BF7-B444-25C6-ADBC11767D69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B59E9-86F2-FA06-3989-34A5AA0B0A71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PRODUCT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539A6-B994-DCA2-F834-DBAD9ABE315D}"/>
              </a:ext>
            </a:extLst>
          </p:cNvPr>
          <p:cNvSpPr txBox="1"/>
          <p:nvPr/>
        </p:nvSpPr>
        <p:spPr>
          <a:xfrm>
            <a:off x="609600" y="1066800"/>
            <a:ext cx="7524750" cy="12003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900" b="1">
                <a:solidFill>
                  <a:srgbClr val="F4F7FB"/>
                </a:solidFill>
                <a:latin typeface="Aptos Display" panose="020B0004020202020204" pitchFamily="34" charset="0"/>
              </a:rPr>
              <a:t>Lados is the operating layer for governed business workflows.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5B6FE-05E7-59BA-FABE-149DBECADF60}"/>
              </a:ext>
            </a:extLst>
          </p:cNvPr>
          <p:cNvSpPr txBox="1"/>
          <p:nvPr/>
        </p:nvSpPr>
        <p:spPr>
          <a:xfrm>
            <a:off x="647700" y="2714625"/>
            <a:ext cx="619125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>
                <a:solidFill>
                  <a:srgbClr val="A8B3C7"/>
                </a:solidFill>
                <a:latin typeface="Aptos" panose="020B0004020202020204" pitchFamily="34" charset="0"/>
              </a:rPr>
              <a:t>A pack-based platform where workflows, humans, AI, resources, and audit trails execute through one shared engine.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DC4814-3017-70FD-1CFE-542EA0D68B04}"/>
              </a:ext>
            </a:extLst>
          </p:cNvPr>
          <p:cNvSpPr/>
          <p:nvPr/>
        </p:nvSpPr>
        <p:spPr>
          <a:xfrm>
            <a:off x="7810500" y="914400"/>
            <a:ext cx="3143250" cy="3143250"/>
          </a:xfrm>
          <a:prstGeom prst="rect">
            <a:avLst/>
          </a:prstGeom>
          <a:solidFill>
            <a:srgbClr val="111827"/>
          </a:solidFill>
          <a:ln w="12700">
            <a:solidFill>
              <a:srgbClr val="2B34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EB2AA7-9E4E-2284-AAA4-786E74F87AA5}"/>
              </a:ext>
            </a:extLst>
          </p:cNvPr>
          <p:cNvSpPr/>
          <p:nvPr/>
        </p:nvSpPr>
        <p:spPr>
          <a:xfrm>
            <a:off x="8258175" y="1362075"/>
            <a:ext cx="2247900" cy="2247900"/>
          </a:xfrm>
          <a:prstGeom prst="rect">
            <a:avLst/>
          </a:prstGeom>
          <a:solidFill>
            <a:srgbClr val="172033"/>
          </a:solidFill>
          <a:ln w="254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6DE19D-8A0D-CFCA-8573-DAB1B5D3D3FD}"/>
              </a:ext>
            </a:extLst>
          </p:cNvPr>
          <p:cNvSpPr/>
          <p:nvPr/>
        </p:nvSpPr>
        <p:spPr>
          <a:xfrm>
            <a:off x="8705850" y="1809750"/>
            <a:ext cx="1352550" cy="1352550"/>
          </a:xfrm>
          <a:prstGeom prst="rect">
            <a:avLst/>
          </a:prstGeom>
          <a:solidFill>
            <a:srgbClr val="152338"/>
          </a:solidFill>
          <a:ln w="254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1563FB-6663-57AB-2F2F-368145F82F2C}"/>
              </a:ext>
            </a:extLst>
          </p:cNvPr>
          <p:cNvSpPr/>
          <p:nvPr/>
        </p:nvSpPr>
        <p:spPr>
          <a:xfrm>
            <a:off x="9096375" y="2200275"/>
            <a:ext cx="571500" cy="571500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B64D33-82A7-44A4-CA69-49E6B9E2FD73}"/>
              </a:ext>
            </a:extLst>
          </p:cNvPr>
          <p:cNvSpPr txBox="1"/>
          <p:nvPr/>
        </p:nvSpPr>
        <p:spPr>
          <a:xfrm>
            <a:off x="8420100" y="4114800"/>
            <a:ext cx="200025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4F7FB"/>
                </a:solidFill>
                <a:latin typeface="Aptos Display" panose="020B0004020202020204" pitchFamily="34" charset="0"/>
              </a:rPr>
              <a:t>LADOS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55DB25-6370-B653-5E17-AC79AAA03DF3}"/>
              </a:ext>
            </a:extLst>
          </p:cNvPr>
          <p:cNvSpPr txBox="1"/>
          <p:nvPr/>
        </p:nvSpPr>
        <p:spPr>
          <a:xfrm>
            <a:off x="7924800" y="4457700"/>
            <a:ext cx="30099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A8B3C7"/>
                </a:solidFill>
                <a:latin typeface="Aptos Mono" panose="020B0009020202020204" pitchFamily="49" charset="0"/>
              </a:rPr>
              <a:t>Universal workflow engine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9F695-F296-41B3-9965-0A462236AA36}"/>
              </a:ext>
            </a:extLst>
          </p:cNvPr>
          <p:cNvSpPr txBox="1"/>
          <p:nvPr/>
        </p:nvSpPr>
        <p:spPr>
          <a:xfrm>
            <a:off x="647700" y="4762500"/>
            <a:ext cx="17145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4DD8FF"/>
                </a:solidFill>
                <a:latin typeface="Aptos Display" panose="020B0004020202020204" pitchFamily="34" charset="0"/>
              </a:rPr>
              <a:t>21+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C799D5-1C92-E138-5CF8-E47EAEEFE6BE}"/>
              </a:ext>
            </a:extLst>
          </p:cNvPr>
          <p:cNvSpPr txBox="1"/>
          <p:nvPr/>
        </p:nvSpPr>
        <p:spPr>
          <a:xfrm>
            <a:off x="647700" y="5219700"/>
            <a:ext cx="1695450" cy="1500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official capability packs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46DF7F-5A74-1A0E-B8B6-089124F10DB0}"/>
              </a:ext>
            </a:extLst>
          </p:cNvPr>
          <p:cNvSpPr txBox="1"/>
          <p:nvPr/>
        </p:nvSpPr>
        <p:spPr>
          <a:xfrm>
            <a:off x="2724150" y="4762500"/>
            <a:ext cx="17145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6EE7B7"/>
                </a:solidFill>
                <a:latin typeface="Aptos Display" panose="020B0004020202020204" pitchFamily="34" charset="0"/>
              </a:rPr>
              <a:t>5/5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9036E6-2042-085D-D292-A8F3D9995DFE}"/>
              </a:ext>
            </a:extLst>
          </p:cNvPr>
          <p:cNvSpPr txBox="1"/>
          <p:nvPr/>
        </p:nvSpPr>
        <p:spPr>
          <a:xfrm>
            <a:off x="2724150" y="5219700"/>
            <a:ext cx="1695450" cy="1500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Phase 22 sprints complete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F2924-A6C3-D024-9292-9E2B4BAEB585}"/>
              </a:ext>
            </a:extLst>
          </p:cNvPr>
          <p:cNvSpPr txBox="1"/>
          <p:nvPr/>
        </p:nvSpPr>
        <p:spPr>
          <a:xfrm>
            <a:off x="4800600" y="4762500"/>
            <a:ext cx="17145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700" b="1">
                <a:solidFill>
                  <a:srgbClr val="4DD8FF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4C9ED-EFB8-6743-8E81-94405251D4BD}"/>
              </a:ext>
            </a:extLst>
          </p:cNvPr>
          <p:cNvSpPr txBox="1"/>
          <p:nvPr/>
        </p:nvSpPr>
        <p:spPr>
          <a:xfrm>
            <a:off x="4800600" y="5219700"/>
            <a:ext cx="1695450" cy="1500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engine for every domain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86770D-4FB9-9A42-53FB-8B8CB0EA6C71}"/>
              </a:ext>
            </a:extLst>
          </p:cNvPr>
          <p:cNvSpPr txBox="1"/>
          <p:nvPr/>
        </p:nvSpPr>
        <p:spPr>
          <a:xfrm>
            <a:off x="628650" y="5905500"/>
            <a:ext cx="70485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>
                <a:solidFill>
                  <a:srgbClr val="657089"/>
                </a:solidFill>
                <a:latin typeface="Aptos" panose="020B0004020202020204" pitchFamily="34" charset="0"/>
              </a:rPr>
              <a:t>Built from project documentation and Graphify code navigation; no unverified logo or screenshot assets used.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A4C17-750F-CD87-5FE3-E31FF24EE7B1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826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9E4698-9102-81AC-A375-E7C2FB787C7E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900E1-3219-F251-A46A-603B4FDE1DBF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SYSTEM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1D3C2-A59F-36DD-F1B5-32036433AD10}"/>
              </a:ext>
            </a:extLst>
          </p:cNvPr>
          <p:cNvSpPr txBox="1"/>
          <p:nvPr/>
        </p:nvSpPr>
        <p:spPr>
          <a:xfrm>
            <a:off x="609600" y="838200"/>
            <a:ext cx="752475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>
                <a:solidFill>
                  <a:srgbClr val="F4F7FB"/>
                </a:solidFill>
                <a:latin typeface="Aptos Display" panose="020B0004020202020204" pitchFamily="34" charset="0"/>
              </a:rPr>
              <a:t>The platform separates workflow logic from industry capability.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978A8B-82E8-D62C-8DE2-8B420B79A329}"/>
              </a:ext>
            </a:extLst>
          </p:cNvPr>
          <p:cNvSpPr/>
          <p:nvPr/>
        </p:nvSpPr>
        <p:spPr>
          <a:xfrm>
            <a:off x="904875" y="2000250"/>
            <a:ext cx="7334250" cy="571500"/>
          </a:xfrm>
          <a:prstGeom prst="rect">
            <a:avLst/>
          </a:prstGeom>
          <a:solidFill>
            <a:srgbClr val="111827"/>
          </a:solidFill>
          <a:ln w="12700">
            <a:solidFill>
              <a:srgbClr val="BF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8064BE-E569-BCC8-0EBF-A8D80102353C}"/>
              </a:ext>
            </a:extLst>
          </p:cNvPr>
          <p:cNvSpPr/>
          <p:nvPr/>
        </p:nvSpPr>
        <p:spPr>
          <a:xfrm>
            <a:off x="904875" y="2000250"/>
            <a:ext cx="47625" cy="571500"/>
          </a:xfrm>
          <a:prstGeom prst="rect">
            <a:avLst/>
          </a:prstGeom>
          <a:solidFill>
            <a:srgbClr val="BFA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C16671-B8E0-F941-745D-92746AF89651}"/>
              </a:ext>
            </a:extLst>
          </p:cNvPr>
          <p:cNvSpPr txBox="1"/>
          <p:nvPr/>
        </p:nvSpPr>
        <p:spPr>
          <a:xfrm>
            <a:off x="1095375" y="2143125"/>
            <a:ext cx="69913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Experience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574AC-0F7F-5B81-A9BC-702D8F79A878}"/>
              </a:ext>
            </a:extLst>
          </p:cNvPr>
          <p:cNvSpPr txBox="1"/>
          <p:nvPr/>
        </p:nvSpPr>
        <p:spPr>
          <a:xfrm>
            <a:off x="1095375" y="2419350"/>
            <a:ext cx="699135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Next.js app: canvas, approvals, resources, marketplace, operations 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E7173B-1FD4-C96C-4E5F-E1A10187ECF1}"/>
              </a:ext>
            </a:extLst>
          </p:cNvPr>
          <p:cNvSpPr/>
          <p:nvPr/>
        </p:nvSpPr>
        <p:spPr>
          <a:xfrm>
            <a:off x="1076325" y="2686050"/>
            <a:ext cx="6991350" cy="571500"/>
          </a:xfrm>
          <a:prstGeom prst="rect">
            <a:avLst/>
          </a:prstGeom>
          <a:solidFill>
            <a:srgbClr val="0E1625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0A60EE-4D03-D3F8-CCDB-78B5B1B23542}"/>
              </a:ext>
            </a:extLst>
          </p:cNvPr>
          <p:cNvSpPr/>
          <p:nvPr/>
        </p:nvSpPr>
        <p:spPr>
          <a:xfrm>
            <a:off x="1076325" y="2686050"/>
            <a:ext cx="47625" cy="571500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895CF-AF19-E1EE-5672-60D46FF63CD4}"/>
              </a:ext>
            </a:extLst>
          </p:cNvPr>
          <p:cNvSpPr txBox="1"/>
          <p:nvPr/>
        </p:nvSpPr>
        <p:spPr>
          <a:xfrm>
            <a:off x="1266825" y="2828925"/>
            <a:ext cx="66484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API orchestration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4D1EE3-D298-D4F8-0C4F-AAA6F2C64AE4}"/>
              </a:ext>
            </a:extLst>
          </p:cNvPr>
          <p:cNvSpPr txBox="1"/>
          <p:nvPr/>
        </p:nvSpPr>
        <p:spPr>
          <a:xfrm>
            <a:off x="1266825" y="3105150"/>
            <a:ext cx="664845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NestJS modules: workflow, execution, approvals, pack registry, analytics, retention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86E8D5-84A9-4D0D-386E-3D609B23C19A}"/>
              </a:ext>
            </a:extLst>
          </p:cNvPr>
          <p:cNvSpPr/>
          <p:nvPr/>
        </p:nvSpPr>
        <p:spPr>
          <a:xfrm>
            <a:off x="1247775" y="3371850"/>
            <a:ext cx="6648450" cy="571500"/>
          </a:xfrm>
          <a:prstGeom prst="rect">
            <a:avLst/>
          </a:prstGeom>
          <a:solidFill>
            <a:srgbClr val="1118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5BD716-FB81-A491-717F-14A1DE7CE8EF}"/>
              </a:ext>
            </a:extLst>
          </p:cNvPr>
          <p:cNvSpPr/>
          <p:nvPr/>
        </p:nvSpPr>
        <p:spPr>
          <a:xfrm>
            <a:off x="1247775" y="3371850"/>
            <a:ext cx="47625" cy="5715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0E016F-0F80-EB74-1C04-8F2E159BA1FE}"/>
              </a:ext>
            </a:extLst>
          </p:cNvPr>
          <p:cNvSpPr txBox="1"/>
          <p:nvPr/>
        </p:nvSpPr>
        <p:spPr>
          <a:xfrm>
            <a:off x="1438275" y="3514725"/>
            <a:ext cx="63055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Execution core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DEB71-1204-709F-5A8E-03299D78F723}"/>
              </a:ext>
            </a:extLst>
          </p:cNvPr>
          <p:cNvSpPr txBox="1"/>
          <p:nvPr/>
        </p:nvSpPr>
        <p:spPr>
          <a:xfrm>
            <a:off x="1438275" y="3790950"/>
            <a:ext cx="630555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Runner, queue fallback, port-aware input resolution, state, event, audit,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AF546E-E5AB-8616-D3DA-7FE8584D7C41}"/>
              </a:ext>
            </a:extLst>
          </p:cNvPr>
          <p:cNvSpPr/>
          <p:nvPr/>
        </p:nvSpPr>
        <p:spPr>
          <a:xfrm>
            <a:off x="1419225" y="4057650"/>
            <a:ext cx="6305550" cy="571500"/>
          </a:xfrm>
          <a:prstGeom prst="rect">
            <a:avLst/>
          </a:prstGeom>
          <a:solidFill>
            <a:srgbClr val="0E1625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E608ED-303F-1DE0-6290-20AE906B9D19}"/>
              </a:ext>
            </a:extLst>
          </p:cNvPr>
          <p:cNvSpPr/>
          <p:nvPr/>
        </p:nvSpPr>
        <p:spPr>
          <a:xfrm>
            <a:off x="1419225" y="4057650"/>
            <a:ext cx="47625" cy="5715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0B96CE-21DA-DE15-CA04-3DFF4932141E}"/>
              </a:ext>
            </a:extLst>
          </p:cNvPr>
          <p:cNvSpPr txBox="1"/>
          <p:nvPr/>
        </p:nvSpPr>
        <p:spPr>
          <a:xfrm>
            <a:off x="1609725" y="4200525"/>
            <a:ext cx="59626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Capability packs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B4FF9C-7249-7CEF-D5C5-290CE427AD5C}"/>
              </a:ext>
            </a:extLst>
          </p:cNvPr>
          <p:cNvSpPr txBox="1"/>
          <p:nvPr/>
        </p:nvSpPr>
        <p:spPr>
          <a:xfrm>
            <a:off x="1609725" y="4476750"/>
            <a:ext cx="596265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Official L0/L1/L2 packs: foundation, human work, document, finance, QS, procurement, asset, payroll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3CEB43-2DDA-9A8A-9661-46AEC78E005E}"/>
              </a:ext>
            </a:extLst>
          </p:cNvPr>
          <p:cNvSpPr/>
          <p:nvPr/>
        </p:nvSpPr>
        <p:spPr>
          <a:xfrm>
            <a:off x="1590675" y="4743450"/>
            <a:ext cx="5962650" cy="571500"/>
          </a:xfrm>
          <a:prstGeom prst="rect">
            <a:avLst/>
          </a:prstGeom>
          <a:solidFill>
            <a:srgbClr val="111827"/>
          </a:solidFill>
          <a:ln w="12700">
            <a:solidFill>
              <a:srgbClr val="A8B3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F22537-29B4-DE5B-C550-61DAEEDDE76A}"/>
              </a:ext>
            </a:extLst>
          </p:cNvPr>
          <p:cNvSpPr/>
          <p:nvPr/>
        </p:nvSpPr>
        <p:spPr>
          <a:xfrm>
            <a:off x="1590675" y="4743450"/>
            <a:ext cx="47625" cy="571500"/>
          </a:xfrm>
          <a:prstGeom prst="rect">
            <a:avLst/>
          </a:prstGeom>
          <a:solidFill>
            <a:srgbClr val="A8B3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416565-902F-8CDF-5199-CBD624FEC4E1}"/>
              </a:ext>
            </a:extLst>
          </p:cNvPr>
          <p:cNvSpPr txBox="1"/>
          <p:nvPr/>
        </p:nvSpPr>
        <p:spPr>
          <a:xfrm>
            <a:off x="1781175" y="4886325"/>
            <a:ext cx="56197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Data foundation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B7263-DDAD-422D-300A-9FABC9CEA361}"/>
              </a:ext>
            </a:extLst>
          </p:cNvPr>
          <p:cNvSpPr txBox="1"/>
          <p:nvPr/>
        </p:nvSpPr>
        <p:spPr>
          <a:xfrm>
            <a:off x="1781175" y="5162550"/>
            <a:ext cx="561975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Supabase resources, workflow versions, runs, tasks, rollups, storage, knowledge/catalogue data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523B67-A794-CDBE-FF0C-06C9C4571860}"/>
              </a:ext>
            </a:extLst>
          </p:cNvPr>
          <p:cNvSpPr/>
          <p:nvPr/>
        </p:nvSpPr>
        <p:spPr>
          <a:xfrm>
            <a:off x="8572500" y="2095500"/>
            <a:ext cx="2667000" cy="2266950"/>
          </a:xfrm>
          <a:prstGeom prst="rect">
            <a:avLst/>
          </a:prstGeom>
          <a:solidFill>
            <a:srgbClr val="0E1421"/>
          </a:solidFill>
          <a:ln w="12700">
            <a:solidFill>
              <a:srgbClr val="2B34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8915E9-2245-6246-01F1-B74AE3CDD428}"/>
              </a:ext>
            </a:extLst>
          </p:cNvPr>
          <p:cNvSpPr txBox="1"/>
          <p:nvPr/>
        </p:nvSpPr>
        <p:spPr>
          <a:xfrm>
            <a:off x="8839200" y="2362200"/>
            <a:ext cx="20002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Why it matters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7FA1C1-3FC3-9E0B-CAFD-476E11A07BBC}"/>
              </a:ext>
            </a:extLst>
          </p:cNvPr>
          <p:cNvSpPr txBox="1"/>
          <p:nvPr/>
        </p:nvSpPr>
        <p:spPr>
          <a:xfrm>
            <a:off x="8839200" y="2819400"/>
            <a:ext cx="2095500" cy="103874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A construction workflow, a procurement workflow, and a payroll workflow all inherit the same execution, audit, approval, resource, and retention mechanics.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1449FE-0E85-6B50-5A3D-0920C219C9C3}"/>
              </a:ext>
            </a:extLst>
          </p:cNvPr>
          <p:cNvSpPr/>
          <p:nvPr/>
        </p:nvSpPr>
        <p:spPr>
          <a:xfrm>
            <a:off x="8820150" y="3857625"/>
            <a:ext cx="2152650" cy="400050"/>
          </a:xfrm>
          <a:prstGeom prst="rect">
            <a:avLst/>
          </a:prstGeom>
          <a:solidFill>
            <a:srgbClr val="122034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750CCD-7881-916E-1088-2A203949E053}"/>
              </a:ext>
            </a:extLst>
          </p:cNvPr>
          <p:cNvSpPr txBox="1"/>
          <p:nvPr/>
        </p:nvSpPr>
        <p:spPr>
          <a:xfrm>
            <a:off x="8991600" y="3981450"/>
            <a:ext cx="1809750" cy="3000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75" b="1">
                <a:solidFill>
                  <a:srgbClr val="4DD8FF"/>
                </a:solidFill>
                <a:latin typeface="Aptos" panose="020B0004020202020204" pitchFamily="34" charset="0"/>
              </a:rPr>
              <a:t>Foundation first; domain packs second.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B87D6D-FAA8-3C72-AB25-DE3D4B758194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1642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59892A-DF6C-3424-F1D0-F1953B46D4DD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C87EF6-3972-94E0-D081-B758297CB9DC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PACK ECOSYSTEM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42A52-48C4-5DB6-BE6F-91EF56445AB9}"/>
              </a:ext>
            </a:extLst>
          </p:cNvPr>
          <p:cNvSpPr txBox="1"/>
          <p:nvPr/>
        </p:nvSpPr>
        <p:spPr>
          <a:xfrm>
            <a:off x="609600" y="838200"/>
            <a:ext cx="7905750" cy="8771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50" b="1" dirty="0">
                <a:solidFill>
                  <a:srgbClr val="F4F7FB"/>
                </a:solidFill>
                <a:latin typeface="Aptos Display" panose="020B0004020202020204" pitchFamily="34" charset="0"/>
              </a:rPr>
              <a:t>Packs turn domain expertise into installable execution capability.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0E117-D7B9-ECB4-3187-ACDFF0A5B574}"/>
              </a:ext>
            </a:extLst>
          </p:cNvPr>
          <p:cNvSpPr/>
          <p:nvPr/>
        </p:nvSpPr>
        <p:spPr>
          <a:xfrm>
            <a:off x="4914900" y="2938463"/>
            <a:ext cx="1905000" cy="1047750"/>
          </a:xfrm>
          <a:prstGeom prst="rect">
            <a:avLst/>
          </a:prstGeom>
          <a:solidFill>
            <a:srgbClr val="122034"/>
          </a:solidFill>
          <a:ln w="254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81101-FA0D-0999-E4F1-BAF97323D97C}"/>
              </a:ext>
            </a:extLst>
          </p:cNvPr>
          <p:cNvSpPr txBox="1"/>
          <p:nvPr/>
        </p:nvSpPr>
        <p:spPr>
          <a:xfrm>
            <a:off x="5248275" y="3176588"/>
            <a:ext cx="123825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250" b="1">
                <a:solidFill>
                  <a:srgbClr val="F4F7FB"/>
                </a:solidFill>
                <a:latin typeface="Aptos Display" panose="020B0004020202020204" pitchFamily="34" charset="0"/>
              </a:rPr>
              <a:t>Lados
Engine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A4A2A0-D65E-B590-931D-1BAE4AD544AA}"/>
              </a:ext>
            </a:extLst>
          </p:cNvPr>
          <p:cNvSpPr/>
          <p:nvPr/>
        </p:nvSpPr>
        <p:spPr>
          <a:xfrm>
            <a:off x="2381250" y="1952625"/>
            <a:ext cx="1809750" cy="609600"/>
          </a:xfrm>
          <a:prstGeom prst="rect">
            <a:avLst/>
          </a:prstGeom>
          <a:solidFill>
            <a:srgbClr val="0F1727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E812E-17F4-397F-5F10-64A50C9DFBB8}"/>
              </a:ext>
            </a:extLst>
          </p:cNvPr>
          <p:cNvSpPr txBox="1"/>
          <p:nvPr/>
        </p:nvSpPr>
        <p:spPr>
          <a:xfrm>
            <a:off x="2514600" y="2114550"/>
            <a:ext cx="15430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Workflow foundation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ABA74-B0AD-5180-5EA3-9B2B7EFB54C6}"/>
              </a:ext>
            </a:extLst>
          </p:cNvPr>
          <p:cNvSpPr/>
          <p:nvPr/>
        </p:nvSpPr>
        <p:spPr>
          <a:xfrm>
            <a:off x="4191000" y="2247900"/>
            <a:ext cx="1047750" cy="19050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E8A32D-B97A-0C57-089A-756563C7EDE7}"/>
              </a:ext>
            </a:extLst>
          </p:cNvPr>
          <p:cNvSpPr/>
          <p:nvPr/>
        </p:nvSpPr>
        <p:spPr>
          <a:xfrm>
            <a:off x="4953000" y="1762125"/>
            <a:ext cx="1809750" cy="609600"/>
          </a:xfrm>
          <a:prstGeom prst="rect">
            <a:avLst/>
          </a:prstGeom>
          <a:solidFill>
            <a:srgbClr val="0F17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2F8AB6-1C34-2ABD-71C9-0A2383DEB15C}"/>
              </a:ext>
            </a:extLst>
          </p:cNvPr>
          <p:cNvSpPr txBox="1"/>
          <p:nvPr/>
        </p:nvSpPr>
        <p:spPr>
          <a:xfrm>
            <a:off x="5086350" y="1924050"/>
            <a:ext cx="15430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Human 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44AC94-1A26-923D-AFAC-8B688F782323}"/>
              </a:ext>
            </a:extLst>
          </p:cNvPr>
          <p:cNvSpPr/>
          <p:nvPr/>
        </p:nvSpPr>
        <p:spPr>
          <a:xfrm>
            <a:off x="5857875" y="2371725"/>
            <a:ext cx="19050" cy="5334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00576D-D9FD-D2E1-FEC4-55D79BA34F0D}"/>
              </a:ext>
            </a:extLst>
          </p:cNvPr>
          <p:cNvSpPr/>
          <p:nvPr/>
        </p:nvSpPr>
        <p:spPr>
          <a:xfrm>
            <a:off x="7524750" y="1952625"/>
            <a:ext cx="1809750" cy="609600"/>
          </a:xfrm>
          <a:prstGeom prst="rect">
            <a:avLst/>
          </a:prstGeom>
          <a:solidFill>
            <a:srgbClr val="0F1727"/>
          </a:solidFill>
          <a:ln w="12700">
            <a:solidFill>
              <a:srgbClr val="BF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B16F3-6066-D4DB-570D-818A838CD63D}"/>
              </a:ext>
            </a:extLst>
          </p:cNvPr>
          <p:cNvSpPr txBox="1"/>
          <p:nvPr/>
        </p:nvSpPr>
        <p:spPr>
          <a:xfrm>
            <a:off x="7658100" y="2114550"/>
            <a:ext cx="154305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Document intelligence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58180-3D59-AA33-C207-41D1A4F0CE99}"/>
              </a:ext>
            </a:extLst>
          </p:cNvPr>
          <p:cNvSpPr/>
          <p:nvPr/>
        </p:nvSpPr>
        <p:spPr>
          <a:xfrm>
            <a:off x="6819900" y="2238374"/>
            <a:ext cx="704850" cy="45719"/>
          </a:xfrm>
          <a:prstGeom prst="rect">
            <a:avLst/>
          </a:prstGeom>
          <a:solidFill>
            <a:srgbClr val="BFA7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18F57A-EE9B-5BB3-5927-D7797C9E34DB}"/>
              </a:ext>
            </a:extLst>
          </p:cNvPr>
          <p:cNvSpPr/>
          <p:nvPr/>
        </p:nvSpPr>
        <p:spPr>
          <a:xfrm>
            <a:off x="2038350" y="3143250"/>
            <a:ext cx="1809750" cy="609600"/>
          </a:xfrm>
          <a:prstGeom prst="rect">
            <a:avLst/>
          </a:prstGeom>
          <a:solidFill>
            <a:srgbClr val="0F17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0216F0-2720-DC81-C3C9-4DF4210DB204}"/>
              </a:ext>
            </a:extLst>
          </p:cNvPr>
          <p:cNvSpPr txBox="1"/>
          <p:nvPr/>
        </p:nvSpPr>
        <p:spPr>
          <a:xfrm>
            <a:off x="2171700" y="3305175"/>
            <a:ext cx="15430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Procurement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2D94AB-9CFF-20E9-A663-70013CACF2AC}"/>
              </a:ext>
            </a:extLst>
          </p:cNvPr>
          <p:cNvSpPr/>
          <p:nvPr/>
        </p:nvSpPr>
        <p:spPr>
          <a:xfrm>
            <a:off x="3848100" y="3438525"/>
            <a:ext cx="1047750" cy="1905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0C414F-8DF5-79BB-7AA3-3D406A6BB0D0}"/>
              </a:ext>
            </a:extLst>
          </p:cNvPr>
          <p:cNvSpPr/>
          <p:nvPr/>
        </p:nvSpPr>
        <p:spPr>
          <a:xfrm>
            <a:off x="4933950" y="4562475"/>
            <a:ext cx="1809750" cy="609600"/>
          </a:xfrm>
          <a:prstGeom prst="rect">
            <a:avLst/>
          </a:prstGeom>
          <a:solidFill>
            <a:srgbClr val="0F17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7EAE65-95BB-702E-B52C-8585820B26EA}"/>
              </a:ext>
            </a:extLst>
          </p:cNvPr>
          <p:cNvSpPr txBox="1"/>
          <p:nvPr/>
        </p:nvSpPr>
        <p:spPr>
          <a:xfrm>
            <a:off x="5067300" y="4724400"/>
            <a:ext cx="15430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QS commercial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C9DD70-F754-7960-E6E0-2D17C7B04C63}"/>
              </a:ext>
            </a:extLst>
          </p:cNvPr>
          <p:cNvSpPr/>
          <p:nvPr/>
        </p:nvSpPr>
        <p:spPr>
          <a:xfrm>
            <a:off x="5838825" y="3995738"/>
            <a:ext cx="19050" cy="5334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7B223F-599E-C15D-0116-153AFD3FA573}"/>
              </a:ext>
            </a:extLst>
          </p:cNvPr>
          <p:cNvSpPr/>
          <p:nvPr/>
        </p:nvSpPr>
        <p:spPr>
          <a:xfrm>
            <a:off x="7524750" y="3143250"/>
            <a:ext cx="1809750" cy="609600"/>
          </a:xfrm>
          <a:prstGeom prst="rect">
            <a:avLst/>
          </a:prstGeom>
          <a:solidFill>
            <a:srgbClr val="0F17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F99519-4DDC-8DD8-EEC9-06960E2E2FCD}"/>
              </a:ext>
            </a:extLst>
          </p:cNvPr>
          <p:cNvSpPr txBox="1"/>
          <p:nvPr/>
        </p:nvSpPr>
        <p:spPr>
          <a:xfrm>
            <a:off x="7658100" y="3305175"/>
            <a:ext cx="15430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00" b="1">
                <a:solidFill>
                  <a:srgbClr val="F4F7FB"/>
                </a:solidFill>
                <a:latin typeface="Aptos" panose="020B0004020202020204" pitchFamily="34" charset="0"/>
              </a:rPr>
              <a:t>Asset &amp; fleet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330CFA-EA48-0A64-2046-5024DDBBB371}"/>
              </a:ext>
            </a:extLst>
          </p:cNvPr>
          <p:cNvSpPr/>
          <p:nvPr/>
        </p:nvSpPr>
        <p:spPr>
          <a:xfrm>
            <a:off x="6905625" y="3438525"/>
            <a:ext cx="619125" cy="1905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A5E7E8-417B-1692-6700-2B7A99B8EF5A}"/>
              </a:ext>
            </a:extLst>
          </p:cNvPr>
          <p:cNvSpPr txBox="1"/>
          <p:nvPr/>
        </p:nvSpPr>
        <p:spPr>
          <a:xfrm>
            <a:off x="1333500" y="5715000"/>
            <a:ext cx="9525000" cy="4385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425">
                <a:solidFill>
                  <a:srgbClr val="A8B3C7"/>
                </a:solidFill>
                <a:latin typeface="Aptos" panose="020B0004020202020204" pitchFamily="34" charset="0"/>
              </a:rPr>
              <a:t>Capability packs are not just palette items. They define manifests, nodes, ports, events, config fields, and runtime executors that the engine can govern.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CD6F83-B6BF-316B-321C-58734D8B76AC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2771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5CC308-204E-A6EC-ADBB-844D841CBB98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C70BE3-F55C-5D17-5133-42854BD26CD5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EXECUTION PATH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A14DD0-C803-BA9A-5BCF-73947044F472}"/>
              </a:ext>
            </a:extLst>
          </p:cNvPr>
          <p:cNvSpPr txBox="1"/>
          <p:nvPr/>
        </p:nvSpPr>
        <p:spPr>
          <a:xfrm>
            <a:off x="609600" y="838200"/>
            <a:ext cx="74295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>
                <a:solidFill>
                  <a:srgbClr val="F4F7FB"/>
                </a:solidFill>
                <a:latin typeface="Aptos Display" panose="020B0004020202020204" pitchFamily="34" charset="0"/>
              </a:rPr>
              <a:t>Every run follows one auditable path from trigger to outcome.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CB9F03-EF81-1614-9269-DEF7D1834E32}"/>
              </a:ext>
            </a:extLst>
          </p:cNvPr>
          <p:cNvSpPr/>
          <p:nvPr/>
        </p:nvSpPr>
        <p:spPr>
          <a:xfrm>
            <a:off x="666750" y="2552700"/>
            <a:ext cx="1428750" cy="1428750"/>
          </a:xfrm>
          <a:prstGeom prst="rect">
            <a:avLst/>
          </a:prstGeom>
          <a:solidFill>
            <a:srgbClr val="101827"/>
          </a:solidFill>
          <a:ln w="12700">
            <a:solidFill>
              <a:srgbClr val="BF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3DC66A-178F-DDF9-478C-AAD737E24F62}"/>
              </a:ext>
            </a:extLst>
          </p:cNvPr>
          <p:cNvSpPr txBox="1"/>
          <p:nvPr/>
        </p:nvSpPr>
        <p:spPr>
          <a:xfrm>
            <a:off x="819150" y="2819400"/>
            <a:ext cx="40005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 b="1">
                <a:solidFill>
                  <a:srgbClr val="BFA7FF"/>
                </a:solidFill>
                <a:latin typeface="Aptos Mono" panose="020B0009020202020204" pitchFamily="49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40E5A-47A3-6F32-8B2C-A116D57B1CC3}"/>
              </a:ext>
            </a:extLst>
          </p:cNvPr>
          <p:cNvSpPr txBox="1"/>
          <p:nvPr/>
        </p:nvSpPr>
        <p:spPr>
          <a:xfrm>
            <a:off x="819150" y="311467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Trigger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D1E034-337C-D956-76E5-4BB176585248}"/>
              </a:ext>
            </a:extLst>
          </p:cNvPr>
          <p:cNvSpPr txBox="1"/>
          <p:nvPr/>
        </p:nvSpPr>
        <p:spPr>
          <a:xfrm>
            <a:off x="819150" y="347662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5">
                <a:solidFill>
                  <a:srgbClr val="A8B3C7"/>
                </a:solidFill>
                <a:latin typeface="Aptos" panose="020B0004020202020204" pitchFamily="34" charset="0"/>
              </a:rPr>
              <a:t>manual, schedule,
webhook, event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BDA330-89C1-6D51-45CE-36110164E250}"/>
              </a:ext>
            </a:extLst>
          </p:cNvPr>
          <p:cNvSpPr/>
          <p:nvPr/>
        </p:nvSpPr>
        <p:spPr>
          <a:xfrm>
            <a:off x="2095500" y="3219450"/>
            <a:ext cx="42862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43376-B18C-A490-FA74-51A96FAC64B5}"/>
              </a:ext>
            </a:extLst>
          </p:cNvPr>
          <p:cNvSpPr/>
          <p:nvPr/>
        </p:nvSpPr>
        <p:spPr>
          <a:xfrm>
            <a:off x="2524125" y="2552700"/>
            <a:ext cx="1428750" cy="1428750"/>
          </a:xfrm>
          <a:prstGeom prst="rect">
            <a:avLst/>
          </a:prstGeom>
          <a:solidFill>
            <a:srgbClr val="101827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85181B-6908-E3B1-E313-CCBBB7539D86}"/>
              </a:ext>
            </a:extLst>
          </p:cNvPr>
          <p:cNvSpPr txBox="1"/>
          <p:nvPr/>
        </p:nvSpPr>
        <p:spPr>
          <a:xfrm>
            <a:off x="2676525" y="2819400"/>
            <a:ext cx="40005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 b="1">
                <a:solidFill>
                  <a:srgbClr val="4DD8FF"/>
                </a:solidFill>
                <a:latin typeface="Aptos Mono" panose="020B0009020202020204" pitchFamily="49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DC8334-7161-0964-8F94-E42884AAA652}"/>
              </a:ext>
            </a:extLst>
          </p:cNvPr>
          <p:cNvSpPr txBox="1"/>
          <p:nvPr/>
        </p:nvSpPr>
        <p:spPr>
          <a:xfrm>
            <a:off x="2676525" y="311467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Resolve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0FFF4F-BCB2-B4FB-BE41-74A5850874C8}"/>
              </a:ext>
            </a:extLst>
          </p:cNvPr>
          <p:cNvSpPr txBox="1"/>
          <p:nvPr/>
        </p:nvSpPr>
        <p:spPr>
          <a:xfrm>
            <a:off x="2676525" y="347662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5">
                <a:solidFill>
                  <a:srgbClr val="A8B3C7"/>
                </a:solidFill>
                <a:latin typeface="Aptos" panose="020B0004020202020204" pitchFamily="34" charset="0"/>
              </a:rPr>
              <a:t>bindings, inputs,
pack executors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9BE9A-849A-0391-D785-2E9C9C43BD03}"/>
              </a:ext>
            </a:extLst>
          </p:cNvPr>
          <p:cNvSpPr/>
          <p:nvPr/>
        </p:nvSpPr>
        <p:spPr>
          <a:xfrm>
            <a:off x="3952875" y="3219450"/>
            <a:ext cx="42862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43A3B6-D0BE-C402-21F3-364DE92C5A5A}"/>
              </a:ext>
            </a:extLst>
          </p:cNvPr>
          <p:cNvSpPr/>
          <p:nvPr/>
        </p:nvSpPr>
        <p:spPr>
          <a:xfrm>
            <a:off x="4381500" y="2552700"/>
            <a:ext cx="1428750" cy="1428750"/>
          </a:xfrm>
          <a:prstGeom prst="rect">
            <a:avLst/>
          </a:prstGeom>
          <a:solidFill>
            <a:srgbClr val="1018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6413B7-F8C2-4E00-8860-02B7348E3C3C}"/>
              </a:ext>
            </a:extLst>
          </p:cNvPr>
          <p:cNvSpPr txBox="1"/>
          <p:nvPr/>
        </p:nvSpPr>
        <p:spPr>
          <a:xfrm>
            <a:off x="4533900" y="2819400"/>
            <a:ext cx="40005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 b="1">
                <a:solidFill>
                  <a:srgbClr val="6EE7B7"/>
                </a:solidFill>
                <a:latin typeface="Aptos Mono" panose="020B0009020202020204" pitchFamily="49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F2D679-1E13-A641-C344-B70D0BDB07E9}"/>
              </a:ext>
            </a:extLst>
          </p:cNvPr>
          <p:cNvSpPr txBox="1"/>
          <p:nvPr/>
        </p:nvSpPr>
        <p:spPr>
          <a:xfrm>
            <a:off x="4533900" y="311467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EB836-5E03-0AFE-AFAD-4C114B284DCA}"/>
              </a:ext>
            </a:extLst>
          </p:cNvPr>
          <p:cNvSpPr txBox="1"/>
          <p:nvPr/>
        </p:nvSpPr>
        <p:spPr>
          <a:xfrm>
            <a:off x="4533900" y="347662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5">
                <a:solidFill>
                  <a:srgbClr val="A8B3C7"/>
                </a:solidFill>
                <a:latin typeface="Aptos" panose="020B0004020202020204" pitchFamily="34" charset="0"/>
              </a:rPr>
              <a:t>port-aware
node runner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696EAE-B8EE-7E61-E6CC-2C6961F88A52}"/>
              </a:ext>
            </a:extLst>
          </p:cNvPr>
          <p:cNvSpPr/>
          <p:nvPr/>
        </p:nvSpPr>
        <p:spPr>
          <a:xfrm>
            <a:off x="5810250" y="3219450"/>
            <a:ext cx="42862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7E8D0D-C7DC-DFE0-69BA-906BCCA977DF}"/>
              </a:ext>
            </a:extLst>
          </p:cNvPr>
          <p:cNvSpPr/>
          <p:nvPr/>
        </p:nvSpPr>
        <p:spPr>
          <a:xfrm>
            <a:off x="6238875" y="2552700"/>
            <a:ext cx="1428750" cy="1428750"/>
          </a:xfrm>
          <a:prstGeom prst="rect">
            <a:avLst/>
          </a:prstGeom>
          <a:solidFill>
            <a:srgbClr val="10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1EACE7-F397-F5F3-2A89-A5A5D3732690}"/>
              </a:ext>
            </a:extLst>
          </p:cNvPr>
          <p:cNvSpPr txBox="1"/>
          <p:nvPr/>
        </p:nvSpPr>
        <p:spPr>
          <a:xfrm>
            <a:off x="6391275" y="2819400"/>
            <a:ext cx="40005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 b="1">
                <a:solidFill>
                  <a:srgbClr val="FFB86B"/>
                </a:solidFill>
                <a:latin typeface="Aptos Mono" panose="020B0009020202020204" pitchFamily="49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70ECB-5872-FD0C-2B6B-7FB716D8C501}"/>
              </a:ext>
            </a:extLst>
          </p:cNvPr>
          <p:cNvSpPr txBox="1"/>
          <p:nvPr/>
        </p:nvSpPr>
        <p:spPr>
          <a:xfrm>
            <a:off x="6391275" y="311467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Pause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43A3A1-92D7-235C-8EA9-70C260C8FDF5}"/>
              </a:ext>
            </a:extLst>
          </p:cNvPr>
          <p:cNvSpPr txBox="1"/>
          <p:nvPr/>
        </p:nvSpPr>
        <p:spPr>
          <a:xfrm>
            <a:off x="6391275" y="347662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5">
                <a:solidFill>
                  <a:srgbClr val="A8B3C7"/>
                </a:solidFill>
                <a:latin typeface="Aptos" panose="020B0004020202020204" pitchFamily="34" charset="0"/>
              </a:rPr>
              <a:t>approval or
request_input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CE62F3-65E3-A2B8-7028-99FCF1134384}"/>
              </a:ext>
            </a:extLst>
          </p:cNvPr>
          <p:cNvSpPr/>
          <p:nvPr/>
        </p:nvSpPr>
        <p:spPr>
          <a:xfrm>
            <a:off x="7667625" y="3219450"/>
            <a:ext cx="42862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C4FCCC-EB7F-1F66-C6FB-74AEEC0CD423}"/>
              </a:ext>
            </a:extLst>
          </p:cNvPr>
          <p:cNvSpPr/>
          <p:nvPr/>
        </p:nvSpPr>
        <p:spPr>
          <a:xfrm>
            <a:off x="8096250" y="2552700"/>
            <a:ext cx="1428750" cy="1428750"/>
          </a:xfrm>
          <a:prstGeom prst="rect">
            <a:avLst/>
          </a:prstGeom>
          <a:solidFill>
            <a:srgbClr val="101827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A3F477-8CC9-B4E7-E7DE-DC8AE1E1A4EF}"/>
              </a:ext>
            </a:extLst>
          </p:cNvPr>
          <p:cNvSpPr txBox="1"/>
          <p:nvPr/>
        </p:nvSpPr>
        <p:spPr>
          <a:xfrm>
            <a:off x="8248650" y="2819400"/>
            <a:ext cx="40005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 b="1">
                <a:solidFill>
                  <a:srgbClr val="4DD8FF"/>
                </a:solidFill>
                <a:latin typeface="Aptos Mono" panose="020B0009020202020204" pitchFamily="49" charset="0"/>
              </a:rPr>
              <a:t>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0A860E-FE25-1340-653C-944FCE322BA5}"/>
              </a:ext>
            </a:extLst>
          </p:cNvPr>
          <p:cNvSpPr txBox="1"/>
          <p:nvPr/>
        </p:nvSpPr>
        <p:spPr>
          <a:xfrm>
            <a:off x="8248650" y="311467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7A3B86-11A0-98A0-1507-DB22096F5298}"/>
              </a:ext>
            </a:extLst>
          </p:cNvPr>
          <p:cNvSpPr txBox="1"/>
          <p:nvPr/>
        </p:nvSpPr>
        <p:spPr>
          <a:xfrm>
            <a:off x="8248650" y="347662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5">
                <a:solidFill>
                  <a:srgbClr val="A8B3C7"/>
                </a:solidFill>
                <a:latin typeface="Aptos" panose="020B0004020202020204" pitchFamily="34" charset="0"/>
              </a:rPr>
              <a:t>logs, events,
audit, rollups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E3FF73-95FF-371F-473B-059BF1070DD5}"/>
              </a:ext>
            </a:extLst>
          </p:cNvPr>
          <p:cNvSpPr/>
          <p:nvPr/>
        </p:nvSpPr>
        <p:spPr>
          <a:xfrm>
            <a:off x="9525000" y="3219450"/>
            <a:ext cx="42862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5DA82F-B26F-015A-5312-C87F34E05AFF}"/>
              </a:ext>
            </a:extLst>
          </p:cNvPr>
          <p:cNvSpPr/>
          <p:nvPr/>
        </p:nvSpPr>
        <p:spPr>
          <a:xfrm>
            <a:off x="9953625" y="2552700"/>
            <a:ext cx="1428750" cy="1428750"/>
          </a:xfrm>
          <a:prstGeom prst="rect">
            <a:avLst/>
          </a:prstGeom>
          <a:solidFill>
            <a:srgbClr val="1018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39791A-2F73-C1D0-4E3B-C189F7FB19D6}"/>
              </a:ext>
            </a:extLst>
          </p:cNvPr>
          <p:cNvSpPr txBox="1"/>
          <p:nvPr/>
        </p:nvSpPr>
        <p:spPr>
          <a:xfrm>
            <a:off x="10106025" y="2819400"/>
            <a:ext cx="40005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 b="1">
                <a:solidFill>
                  <a:srgbClr val="6EE7B7"/>
                </a:solidFill>
                <a:latin typeface="Aptos Mono" panose="020B0009020202020204" pitchFamily="49" charset="0"/>
              </a:rPr>
              <a:t>06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39350D-A2AE-6D2E-3851-AF36EB218F12}"/>
              </a:ext>
            </a:extLst>
          </p:cNvPr>
          <p:cNvSpPr txBox="1"/>
          <p:nvPr/>
        </p:nvSpPr>
        <p:spPr>
          <a:xfrm>
            <a:off x="10106025" y="311467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Outcome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639299-0FF0-3F2A-08FC-C2C65092B961}"/>
              </a:ext>
            </a:extLst>
          </p:cNvPr>
          <p:cNvSpPr txBox="1"/>
          <p:nvPr/>
        </p:nvSpPr>
        <p:spPr>
          <a:xfrm>
            <a:off x="10106025" y="3476625"/>
            <a:ext cx="112395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25">
                <a:solidFill>
                  <a:srgbClr val="A8B3C7"/>
                </a:solidFill>
                <a:latin typeface="Aptos" panose="020B0004020202020204" pitchFamily="34" charset="0"/>
              </a:rPr>
              <a:t>resource update
or artifact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238413-997F-962F-E74A-CF1896780318}"/>
              </a:ext>
            </a:extLst>
          </p:cNvPr>
          <p:cNvSpPr/>
          <p:nvPr/>
        </p:nvSpPr>
        <p:spPr>
          <a:xfrm>
            <a:off x="2095500" y="4476750"/>
            <a:ext cx="8001000" cy="723900"/>
          </a:xfrm>
          <a:prstGeom prst="rect">
            <a:avLst/>
          </a:prstGeom>
          <a:solidFill>
            <a:srgbClr val="0E1421"/>
          </a:solidFill>
          <a:ln w="12700">
            <a:solidFill>
              <a:srgbClr val="2B34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23D81B-30AB-E507-CBBC-B4CC563A8061}"/>
              </a:ext>
            </a:extLst>
          </p:cNvPr>
          <p:cNvSpPr txBox="1"/>
          <p:nvPr/>
        </p:nvSpPr>
        <p:spPr>
          <a:xfrm>
            <a:off x="2381250" y="4695825"/>
            <a:ext cx="74295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>
                <a:solidFill>
                  <a:srgbClr val="A8B3C7"/>
                </a:solidFill>
                <a:latin typeface="Aptos" panose="020B0004020202020204" pitchFamily="34" charset="0"/>
              </a:rPr>
              <a:t>The queue can fall back to in-process execution, while the watchdog, analytics, and retention services keep operational state visible after the run starts.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29D059-FE31-2CD1-FD53-D3EA326FB25A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64911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87B8CA-0774-A7A0-4BD9-ADF16FA5F8D5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5C045F-89C4-355E-F81D-CE235BC406C9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HUMAN GOVERNANCE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0338B3-DDDE-4B44-414B-F04E1031F8E7}"/>
              </a:ext>
            </a:extLst>
          </p:cNvPr>
          <p:cNvSpPr txBox="1"/>
          <p:nvPr/>
        </p:nvSpPr>
        <p:spPr>
          <a:xfrm>
            <a:off x="609600" y="838200"/>
            <a:ext cx="72390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>
                <a:solidFill>
                  <a:srgbClr val="F4F7FB"/>
                </a:solidFill>
                <a:latin typeface="Aptos Display" panose="020B0004020202020204" pitchFamily="34" charset="0"/>
              </a:rPr>
              <a:t>Human input is a workflow primitive, not a side channel.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3A850-7BF1-3026-2F27-245979E78F27}"/>
              </a:ext>
            </a:extLst>
          </p:cNvPr>
          <p:cNvSpPr/>
          <p:nvPr/>
        </p:nvSpPr>
        <p:spPr>
          <a:xfrm>
            <a:off x="904875" y="2333625"/>
            <a:ext cx="247650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25D9C-29A7-C3BC-EAB9-268024581D74}"/>
              </a:ext>
            </a:extLst>
          </p:cNvPr>
          <p:cNvSpPr/>
          <p:nvPr/>
        </p:nvSpPr>
        <p:spPr>
          <a:xfrm>
            <a:off x="904875" y="2333625"/>
            <a:ext cx="47625" cy="11430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C8F08F-2360-1B4C-AB17-A60EBF150335}"/>
              </a:ext>
            </a:extLst>
          </p:cNvPr>
          <p:cNvSpPr txBox="1"/>
          <p:nvPr/>
        </p:nvSpPr>
        <p:spPr>
          <a:xfrm>
            <a:off x="1095375" y="2476500"/>
            <a:ext cx="2133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request_approval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4D37E-8C5A-1B3D-28BF-3C93BBF7B4DB}"/>
              </a:ext>
            </a:extLst>
          </p:cNvPr>
          <p:cNvSpPr txBox="1"/>
          <p:nvPr/>
        </p:nvSpPr>
        <p:spPr>
          <a:xfrm>
            <a:off x="1095375" y="2752725"/>
            <a:ext cx="2133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A human decision gates commercial facts. AI remains advisory.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7B085-5384-10CD-D165-2D81DA5CBE8B}"/>
              </a:ext>
            </a:extLst>
          </p:cNvPr>
          <p:cNvSpPr/>
          <p:nvPr/>
        </p:nvSpPr>
        <p:spPr>
          <a:xfrm>
            <a:off x="4857750" y="2333625"/>
            <a:ext cx="247650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9A17FF-69E3-5C5F-4F55-937BF1079A43}"/>
              </a:ext>
            </a:extLst>
          </p:cNvPr>
          <p:cNvSpPr/>
          <p:nvPr/>
        </p:nvSpPr>
        <p:spPr>
          <a:xfrm>
            <a:off x="4857750" y="2333625"/>
            <a:ext cx="47625" cy="11430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748D93-6BF9-9FE7-71A8-E40713B5E681}"/>
              </a:ext>
            </a:extLst>
          </p:cNvPr>
          <p:cNvSpPr txBox="1"/>
          <p:nvPr/>
        </p:nvSpPr>
        <p:spPr>
          <a:xfrm>
            <a:off x="5048250" y="2476500"/>
            <a:ext cx="2133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request_input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48868B-3B22-5F8F-305A-E3A2B17AFF38}"/>
              </a:ext>
            </a:extLst>
          </p:cNvPr>
          <p:cNvSpPr txBox="1"/>
          <p:nvPr/>
        </p:nvSpPr>
        <p:spPr>
          <a:xfrm>
            <a:off x="5048250" y="2752725"/>
            <a:ext cx="2133600" cy="4385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Structured data can be inserted or corrected mid-run with an auditable task.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87D6BA-D72D-4952-190E-F2ED32236FA7}"/>
              </a:ext>
            </a:extLst>
          </p:cNvPr>
          <p:cNvSpPr/>
          <p:nvPr/>
        </p:nvSpPr>
        <p:spPr>
          <a:xfrm>
            <a:off x="8810625" y="2333625"/>
            <a:ext cx="247650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349576-1309-953B-8654-1EF44763CFF1}"/>
              </a:ext>
            </a:extLst>
          </p:cNvPr>
          <p:cNvSpPr/>
          <p:nvPr/>
        </p:nvSpPr>
        <p:spPr>
          <a:xfrm>
            <a:off x="8810625" y="2333625"/>
            <a:ext cx="47625" cy="1143000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7B51AC-9628-6E2E-BDAD-56A3CA0EADF0}"/>
              </a:ext>
            </a:extLst>
          </p:cNvPr>
          <p:cNvSpPr txBox="1"/>
          <p:nvPr/>
        </p:nvSpPr>
        <p:spPr>
          <a:xfrm>
            <a:off x="9001125" y="2476500"/>
            <a:ext cx="2133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delegation / escalation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A6976-4EF1-C5BA-D321-A6C516730A3C}"/>
              </a:ext>
            </a:extLst>
          </p:cNvPr>
          <p:cNvSpPr txBox="1"/>
          <p:nvPr/>
        </p:nvSpPr>
        <p:spPr>
          <a:xfrm>
            <a:off x="9001125" y="2752725"/>
            <a:ext cx="21336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Named users, role inboxes, admin override, watchdog escalation.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13F224-3765-A06B-F7A2-FA2C096126CE}"/>
              </a:ext>
            </a:extLst>
          </p:cNvPr>
          <p:cNvSpPr/>
          <p:nvPr/>
        </p:nvSpPr>
        <p:spPr>
          <a:xfrm>
            <a:off x="3381375" y="2876550"/>
            <a:ext cx="147637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36079D-76E7-2A98-74AF-4ABB84D5D3B3}"/>
              </a:ext>
            </a:extLst>
          </p:cNvPr>
          <p:cNvSpPr/>
          <p:nvPr/>
        </p:nvSpPr>
        <p:spPr>
          <a:xfrm>
            <a:off x="7334250" y="2876550"/>
            <a:ext cx="1476375" cy="2857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7633D-F2C8-9649-5992-B2E6FC45F1E3}"/>
              </a:ext>
            </a:extLst>
          </p:cNvPr>
          <p:cNvSpPr/>
          <p:nvPr/>
        </p:nvSpPr>
        <p:spPr>
          <a:xfrm>
            <a:off x="2152650" y="4000500"/>
            <a:ext cx="7886700" cy="781050"/>
          </a:xfrm>
          <a:prstGeom prst="rect">
            <a:avLst/>
          </a:prstGeom>
          <a:solidFill>
            <a:srgbClr val="0D1524"/>
          </a:solidFill>
          <a:ln w="12700">
            <a:solidFill>
              <a:srgbClr val="BF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60430E-53A7-2992-4094-F65D7FD8AF2F}"/>
              </a:ext>
            </a:extLst>
          </p:cNvPr>
          <p:cNvSpPr txBox="1"/>
          <p:nvPr/>
        </p:nvSpPr>
        <p:spPr>
          <a:xfrm>
            <a:off x="2971800" y="4200525"/>
            <a:ext cx="257175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F4F7FB"/>
                </a:solidFill>
                <a:latin typeface="Aptos Display" panose="020B0004020202020204" pitchFamily="34" charset="0"/>
              </a:rPr>
              <a:t>One task table, two task types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745452-B08B-692C-F28C-C3B35CEC1CC1}"/>
              </a:ext>
            </a:extLst>
          </p:cNvPr>
          <p:cNvSpPr txBox="1"/>
          <p:nvPr/>
        </p:nvSpPr>
        <p:spPr>
          <a:xfrm>
            <a:off x="5667375" y="4171950"/>
            <a:ext cx="3714750" cy="51937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approval_tasks now carries approval and input lifecycles: pending -&gt; resolved, with assignment, delegation, escalation, audit log, and resume.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7A0F4-F378-A4C9-38B3-3A31F96EDB78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068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21503-0E56-E175-4BB5-9AFC6CDC9C30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CA466-9C02-5CDA-5E43-713F8D0E11CF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RESOURCE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4DBCF-6647-84D7-083F-C9944DBC81E5}"/>
              </a:ext>
            </a:extLst>
          </p:cNvPr>
          <p:cNvSpPr txBox="1"/>
          <p:nvPr/>
        </p:nvSpPr>
        <p:spPr>
          <a:xfrm>
            <a:off x="609600" y="838200"/>
            <a:ext cx="74295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 dirty="0">
                <a:solidFill>
                  <a:srgbClr val="F4F7FB"/>
                </a:solidFill>
                <a:latin typeface="Aptos Display" panose="020B0004020202020204" pitchFamily="34" charset="0"/>
              </a:rPr>
              <a:t>Workspace Resources anchor workflows to real business objects.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13896-EC37-4330-F6C9-9EA5DBA040DF}"/>
              </a:ext>
            </a:extLst>
          </p:cNvPr>
          <p:cNvSpPr/>
          <p:nvPr/>
        </p:nvSpPr>
        <p:spPr>
          <a:xfrm>
            <a:off x="952500" y="233362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BF237D-EAFE-EB4E-BA63-A47E3B866FEF}"/>
              </a:ext>
            </a:extLst>
          </p:cNvPr>
          <p:cNvSpPr txBox="1"/>
          <p:nvPr/>
        </p:nvSpPr>
        <p:spPr>
          <a:xfrm>
            <a:off x="1047750" y="246697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Job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FB680-CB2D-6D2F-C83C-7074052EC275}"/>
              </a:ext>
            </a:extLst>
          </p:cNvPr>
          <p:cNvSpPr/>
          <p:nvPr/>
        </p:nvSpPr>
        <p:spPr>
          <a:xfrm>
            <a:off x="2238375" y="233362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487D3-CDF6-C6DE-1C9E-6DBFBC2F3045}"/>
              </a:ext>
            </a:extLst>
          </p:cNvPr>
          <p:cNvSpPr txBox="1"/>
          <p:nvPr/>
        </p:nvSpPr>
        <p:spPr>
          <a:xfrm>
            <a:off x="2333625" y="246697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Invoice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D4FEA2-F238-A94B-F959-5305864A70AA}"/>
              </a:ext>
            </a:extLst>
          </p:cNvPr>
          <p:cNvSpPr/>
          <p:nvPr/>
        </p:nvSpPr>
        <p:spPr>
          <a:xfrm>
            <a:off x="3524250" y="233362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FF227D-8526-4BCF-BFBF-C3A2F808D85F}"/>
              </a:ext>
            </a:extLst>
          </p:cNvPr>
          <p:cNvSpPr txBox="1"/>
          <p:nvPr/>
        </p:nvSpPr>
        <p:spPr>
          <a:xfrm>
            <a:off x="3619500" y="246697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Vehicle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32E70C-2BAB-5578-A009-46E31653205F}"/>
              </a:ext>
            </a:extLst>
          </p:cNvPr>
          <p:cNvSpPr/>
          <p:nvPr/>
        </p:nvSpPr>
        <p:spPr>
          <a:xfrm>
            <a:off x="4810125" y="233362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E259A-4BA4-B23F-4A41-A37FF1469055}"/>
              </a:ext>
            </a:extLst>
          </p:cNvPr>
          <p:cNvSpPr txBox="1"/>
          <p:nvPr/>
        </p:nvSpPr>
        <p:spPr>
          <a:xfrm>
            <a:off x="4905375" y="246697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BOQ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1942CF-8701-85BA-D7A4-03ACBF12A1B5}"/>
              </a:ext>
            </a:extLst>
          </p:cNvPr>
          <p:cNvSpPr/>
          <p:nvPr/>
        </p:nvSpPr>
        <p:spPr>
          <a:xfrm>
            <a:off x="952500" y="307657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F00CD-78A9-3166-650A-C20B7ABF6422}"/>
              </a:ext>
            </a:extLst>
          </p:cNvPr>
          <p:cNvSpPr txBox="1"/>
          <p:nvPr/>
        </p:nvSpPr>
        <p:spPr>
          <a:xfrm>
            <a:off x="1047750" y="320992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Claim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AE6C6E-56B3-699F-D939-D1DC4D636E04}"/>
              </a:ext>
            </a:extLst>
          </p:cNvPr>
          <p:cNvSpPr/>
          <p:nvPr/>
        </p:nvSpPr>
        <p:spPr>
          <a:xfrm>
            <a:off x="2238375" y="307657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21568D-F71D-32A8-1CE2-10E37F722906}"/>
              </a:ext>
            </a:extLst>
          </p:cNvPr>
          <p:cNvSpPr txBox="1"/>
          <p:nvPr/>
        </p:nvSpPr>
        <p:spPr>
          <a:xfrm>
            <a:off x="2333625" y="320992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Variation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BB5CE0-7B86-5A74-9637-9CC5AADEA18F}"/>
              </a:ext>
            </a:extLst>
          </p:cNvPr>
          <p:cNvSpPr/>
          <p:nvPr/>
        </p:nvSpPr>
        <p:spPr>
          <a:xfrm>
            <a:off x="3524250" y="307657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4C22C0-A738-8858-F0A9-DCB84318B66A}"/>
              </a:ext>
            </a:extLst>
          </p:cNvPr>
          <p:cNvSpPr txBox="1"/>
          <p:nvPr/>
        </p:nvSpPr>
        <p:spPr>
          <a:xfrm>
            <a:off x="3619500" y="320992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Defect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4B9D33-C0B4-7E51-2DA6-D2D1DB521514}"/>
              </a:ext>
            </a:extLst>
          </p:cNvPr>
          <p:cNvSpPr/>
          <p:nvPr/>
        </p:nvSpPr>
        <p:spPr>
          <a:xfrm>
            <a:off x="4810125" y="3076575"/>
            <a:ext cx="10287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0D32C7-0DE5-E607-0277-D2672BA37152}"/>
              </a:ext>
            </a:extLst>
          </p:cNvPr>
          <p:cNvSpPr txBox="1"/>
          <p:nvPr/>
        </p:nvSpPr>
        <p:spPr>
          <a:xfrm>
            <a:off x="4905375" y="3209925"/>
            <a:ext cx="8382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25" b="1">
                <a:solidFill>
                  <a:srgbClr val="F4F7FB"/>
                </a:solidFill>
                <a:latin typeface="Aptos" panose="020B0004020202020204" pitchFamily="34" charset="0"/>
              </a:rPr>
              <a:t>Task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B4345-0B44-8557-F655-4D36BE581686}"/>
              </a:ext>
            </a:extLst>
          </p:cNvPr>
          <p:cNvSpPr txBox="1"/>
          <p:nvPr/>
        </p:nvSpPr>
        <p:spPr>
          <a:xfrm>
            <a:off x="1571625" y="2000250"/>
            <a:ext cx="30480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FFB86B"/>
                </a:solidFill>
                <a:latin typeface="Aptos Display" panose="020B0004020202020204" pitchFamily="34" charset="0"/>
              </a:rPr>
              <a:t>Workspace Resources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DBFD34-548B-8EC6-42C0-F05476AE0249}"/>
              </a:ext>
            </a:extLst>
          </p:cNvPr>
          <p:cNvSpPr/>
          <p:nvPr/>
        </p:nvSpPr>
        <p:spPr>
          <a:xfrm>
            <a:off x="6500813" y="2104461"/>
            <a:ext cx="2286000" cy="1619250"/>
          </a:xfrm>
          <a:prstGeom prst="rect">
            <a:avLst/>
          </a:prstGeom>
          <a:solidFill>
            <a:srgbClr val="0F1727"/>
          </a:solidFill>
          <a:ln w="254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179448-EF4F-198B-2526-3D4E614FB975}"/>
              </a:ext>
            </a:extLst>
          </p:cNvPr>
          <p:cNvSpPr txBox="1"/>
          <p:nvPr/>
        </p:nvSpPr>
        <p:spPr>
          <a:xfrm>
            <a:off x="6894909" y="2361100"/>
            <a:ext cx="15240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 dirty="0">
                <a:solidFill>
                  <a:srgbClr val="F4F7FB"/>
                </a:solidFill>
                <a:latin typeface="Aptos Display" panose="020B0004020202020204" pitchFamily="34" charset="0"/>
              </a:rPr>
              <a:t>Resource Binding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8061D6-F835-8A02-5C08-B701AF79DB7D}"/>
              </a:ext>
            </a:extLst>
          </p:cNvPr>
          <p:cNvSpPr txBox="1"/>
          <p:nvPr/>
        </p:nvSpPr>
        <p:spPr>
          <a:xfrm>
            <a:off x="6942534" y="2982800"/>
            <a:ext cx="142875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00" dirty="0">
                <a:solidFill>
                  <a:srgbClr val="A8B3C7"/>
                </a:solidFill>
                <a:latin typeface="Aptos Mono" panose="020B0009020202020204" pitchFamily="49" charset="0"/>
              </a:rPr>
              <a:t>field key
resource id
resolved at run time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09C2EE-236F-06CF-C6EA-3FD50344B2F2}"/>
              </a:ext>
            </a:extLst>
          </p:cNvPr>
          <p:cNvSpPr/>
          <p:nvPr/>
        </p:nvSpPr>
        <p:spPr>
          <a:xfrm flipV="1">
            <a:off x="5929745" y="2906077"/>
            <a:ext cx="597262" cy="45719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0C4245-E451-714D-4542-D655026F7F58}"/>
              </a:ext>
            </a:extLst>
          </p:cNvPr>
          <p:cNvSpPr/>
          <p:nvPr/>
        </p:nvSpPr>
        <p:spPr>
          <a:xfrm>
            <a:off x="8786812" y="2868931"/>
            <a:ext cx="357187" cy="45719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8243E1-BF11-115E-BA8A-B57E59CB12B8}"/>
              </a:ext>
            </a:extLst>
          </p:cNvPr>
          <p:cNvSpPr/>
          <p:nvPr/>
        </p:nvSpPr>
        <p:spPr>
          <a:xfrm>
            <a:off x="9144000" y="2286000"/>
            <a:ext cx="2095500" cy="1143000"/>
          </a:xfrm>
          <a:prstGeom prst="rect">
            <a:avLst/>
          </a:prstGeom>
          <a:solidFill>
            <a:srgbClr val="122034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895471-470C-B933-BBC3-884EE46BF0E2}"/>
              </a:ext>
            </a:extLst>
          </p:cNvPr>
          <p:cNvSpPr txBox="1"/>
          <p:nvPr/>
        </p:nvSpPr>
        <p:spPr>
          <a:xfrm>
            <a:off x="9429750" y="2514600"/>
            <a:ext cx="1524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4F7FB"/>
                </a:solidFill>
                <a:latin typeface="Aptos Display" panose="020B0004020202020204" pitchFamily="34" charset="0"/>
              </a:rPr>
              <a:t>Execution context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8429E7-CA82-BBC1-22A8-4518BF07AFD9}"/>
              </a:ext>
            </a:extLst>
          </p:cNvPr>
          <p:cNvSpPr txBox="1"/>
          <p:nvPr/>
        </p:nvSpPr>
        <p:spPr>
          <a:xfrm>
            <a:off x="9429750" y="2876550"/>
            <a:ext cx="1524000" cy="4847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050">
                <a:solidFill>
                  <a:srgbClr val="A8B3C7"/>
                </a:solidFill>
                <a:latin typeface="Aptos" panose="020B0004020202020204" pitchFamily="34" charset="0"/>
              </a:rPr>
              <a:t>Nodes receive validated business objects instead of loose IDs.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9D1F75-3948-2255-D91A-EBABE0D6F2A3}"/>
              </a:ext>
            </a:extLst>
          </p:cNvPr>
          <p:cNvSpPr txBox="1"/>
          <p:nvPr/>
        </p:nvSpPr>
        <p:spPr>
          <a:xfrm>
            <a:off x="2000250" y="4810125"/>
            <a:ext cx="8191500" cy="5078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>
                <a:solidFill>
                  <a:srgbClr val="A8B3C7"/>
                </a:solidFill>
                <a:latin typeface="Aptos" panose="020B0004020202020204" pitchFamily="34" charset="0"/>
              </a:rPr>
              <a:t>This is the difference between automation that moves text around and automation that safely touches the actual business record.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E7E387-F669-11AF-D58D-9B684937EE6C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2863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98D999-7A25-6B2C-42B8-11D55C6D0F52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53F88-B2EB-C3E1-DBC1-DA162840767F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MATURITY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61907A-E2C4-0A95-D9BC-B070FB04701B}"/>
              </a:ext>
            </a:extLst>
          </p:cNvPr>
          <p:cNvSpPr txBox="1"/>
          <p:nvPr/>
        </p:nvSpPr>
        <p:spPr>
          <a:xfrm>
            <a:off x="609600" y="838200"/>
            <a:ext cx="809625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>
                <a:solidFill>
                  <a:srgbClr val="F4F7FB"/>
                </a:solidFill>
                <a:latin typeface="Aptos Display" panose="020B0004020202020204" pitchFamily="34" charset="0"/>
              </a:rPr>
              <a:t>Phase 21/22 moved Lados from prototype to enterprise foundation.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CE3D7-0F17-5820-529C-01EA8892CC64}"/>
              </a:ext>
            </a:extLst>
          </p:cNvPr>
          <p:cNvSpPr/>
          <p:nvPr/>
        </p:nvSpPr>
        <p:spPr>
          <a:xfrm>
            <a:off x="1238250" y="3333750"/>
            <a:ext cx="9620250" cy="38100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BB3B6A-4962-2B07-19F0-9F27AAAC7E4D}"/>
              </a:ext>
            </a:extLst>
          </p:cNvPr>
          <p:cNvSpPr/>
          <p:nvPr/>
        </p:nvSpPr>
        <p:spPr>
          <a:xfrm>
            <a:off x="1143000" y="3086100"/>
            <a:ext cx="533400" cy="533400"/>
          </a:xfrm>
          <a:prstGeom prst="rect">
            <a:avLst/>
          </a:prstGeom>
          <a:solidFill>
            <a:srgbClr val="657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26AF2-B53B-7F80-FA63-62A795800520}"/>
              </a:ext>
            </a:extLst>
          </p:cNvPr>
          <p:cNvSpPr txBox="1"/>
          <p:nvPr/>
        </p:nvSpPr>
        <p:spPr>
          <a:xfrm>
            <a:off x="1143000" y="3209925"/>
            <a:ext cx="5334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090B10"/>
                </a:solidFill>
                <a:latin typeface="Aptos Display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F62DCA-86D9-6A0F-E321-4B0DE5CBF551}"/>
              </a:ext>
            </a:extLst>
          </p:cNvPr>
          <p:cNvSpPr txBox="1"/>
          <p:nvPr/>
        </p:nvSpPr>
        <p:spPr>
          <a:xfrm>
            <a:off x="714375" y="3905250"/>
            <a:ext cx="14287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Prototype freeze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251ACB-2C5B-3514-7989-1C0ADDBD3465}"/>
              </a:ext>
            </a:extLst>
          </p:cNvPr>
          <p:cNvSpPr txBox="1"/>
          <p:nvPr/>
        </p:nvSpPr>
        <p:spPr>
          <a:xfrm>
            <a:off x="533400" y="4333875"/>
            <a:ext cx="1790700" cy="3000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Archived old packs; official assets become the product line.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04F0C-805A-CFE5-698D-4D5DF5EC5E74}"/>
              </a:ext>
            </a:extLst>
          </p:cNvPr>
          <p:cNvSpPr/>
          <p:nvPr/>
        </p:nvSpPr>
        <p:spPr>
          <a:xfrm>
            <a:off x="3476625" y="3086100"/>
            <a:ext cx="533400" cy="533400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A9CD5-5E8C-DFB5-B4D4-F884F0DF913B}"/>
              </a:ext>
            </a:extLst>
          </p:cNvPr>
          <p:cNvSpPr txBox="1"/>
          <p:nvPr/>
        </p:nvSpPr>
        <p:spPr>
          <a:xfrm>
            <a:off x="3476625" y="3209925"/>
            <a:ext cx="5334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090B10"/>
                </a:solidFill>
                <a:latin typeface="Aptos Display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842A93-875E-5890-EDC8-5E6E1F578445}"/>
              </a:ext>
            </a:extLst>
          </p:cNvPr>
          <p:cNvSpPr txBox="1"/>
          <p:nvPr/>
        </p:nvSpPr>
        <p:spPr>
          <a:xfrm>
            <a:off x="3048000" y="3905250"/>
            <a:ext cx="14287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Official runtime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12EF1-E325-A275-6A2C-EB293E820A51}"/>
              </a:ext>
            </a:extLst>
          </p:cNvPr>
          <p:cNvSpPr txBox="1"/>
          <p:nvPr/>
        </p:nvSpPr>
        <p:spPr>
          <a:xfrm>
            <a:off x="2867025" y="4333875"/>
            <a:ext cx="1790700" cy="3000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Manifest loader, validator, real executors, node registry.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B40F65-E0F4-58B0-C7DB-C3704BB591C0}"/>
              </a:ext>
            </a:extLst>
          </p:cNvPr>
          <p:cNvSpPr/>
          <p:nvPr/>
        </p:nvSpPr>
        <p:spPr>
          <a:xfrm>
            <a:off x="5810250" y="3086100"/>
            <a:ext cx="533400" cy="5334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C6AE74-508B-74B2-F2B8-D418088A68DE}"/>
              </a:ext>
            </a:extLst>
          </p:cNvPr>
          <p:cNvSpPr txBox="1"/>
          <p:nvPr/>
        </p:nvSpPr>
        <p:spPr>
          <a:xfrm>
            <a:off x="5810250" y="3209925"/>
            <a:ext cx="5334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090B10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EE324A-0818-F5FB-7A59-B816C0F4E20E}"/>
              </a:ext>
            </a:extLst>
          </p:cNvPr>
          <p:cNvSpPr txBox="1"/>
          <p:nvPr/>
        </p:nvSpPr>
        <p:spPr>
          <a:xfrm>
            <a:off x="5381625" y="3905250"/>
            <a:ext cx="14287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Engine hardening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8C6CF8-0FEE-3678-1F8F-63457AA57CB3}"/>
              </a:ext>
            </a:extLst>
          </p:cNvPr>
          <p:cNvSpPr txBox="1"/>
          <p:nvPr/>
        </p:nvSpPr>
        <p:spPr>
          <a:xfrm>
            <a:off x="5200650" y="4333875"/>
            <a:ext cx="1790700" cy="45012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Queue fallback, watchdog, SSE node status, publish regression tests.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CC9CA8-DFA3-F773-4E4D-9F668BE895BE}"/>
              </a:ext>
            </a:extLst>
          </p:cNvPr>
          <p:cNvSpPr/>
          <p:nvPr/>
        </p:nvSpPr>
        <p:spPr>
          <a:xfrm>
            <a:off x="8143875" y="3086100"/>
            <a:ext cx="533400" cy="5334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EE5A88-DF94-5337-672A-F04F5939CE48}"/>
              </a:ext>
            </a:extLst>
          </p:cNvPr>
          <p:cNvSpPr txBox="1"/>
          <p:nvPr/>
        </p:nvSpPr>
        <p:spPr>
          <a:xfrm>
            <a:off x="8143875" y="3209925"/>
            <a:ext cx="5334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090B10"/>
                </a:solidFill>
                <a:latin typeface="Aptos Display" panose="020B00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BBBE73-BD4C-593B-B7EE-B02637A76344}"/>
              </a:ext>
            </a:extLst>
          </p:cNvPr>
          <p:cNvSpPr txBox="1"/>
          <p:nvPr/>
        </p:nvSpPr>
        <p:spPr>
          <a:xfrm>
            <a:off x="7715250" y="3905250"/>
            <a:ext cx="142875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Enterprise foundation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D9C633-4E5F-EA8F-CFB1-DA3AFD3BC937}"/>
              </a:ext>
            </a:extLst>
          </p:cNvPr>
          <p:cNvSpPr txBox="1"/>
          <p:nvPr/>
        </p:nvSpPr>
        <p:spPr>
          <a:xfrm>
            <a:off x="7534275" y="4333875"/>
            <a:ext cx="1790700" cy="3000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Departments, idempotency, HITL upgrade, analytics, branching.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0344456-7CBB-D387-1A13-F82758A2B1CB}"/>
              </a:ext>
            </a:extLst>
          </p:cNvPr>
          <p:cNvSpPr/>
          <p:nvPr/>
        </p:nvSpPr>
        <p:spPr>
          <a:xfrm>
            <a:off x="10477500" y="3086100"/>
            <a:ext cx="533400" cy="533400"/>
          </a:xfrm>
          <a:prstGeom prst="rect">
            <a:avLst/>
          </a:prstGeom>
          <a:solidFill>
            <a:srgbClr val="BFA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51C717-CF56-38E6-A087-4232FC90BE7A}"/>
              </a:ext>
            </a:extLst>
          </p:cNvPr>
          <p:cNvSpPr txBox="1"/>
          <p:nvPr/>
        </p:nvSpPr>
        <p:spPr>
          <a:xfrm>
            <a:off x="10477500" y="3209925"/>
            <a:ext cx="5334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090B10"/>
                </a:solidFill>
                <a:latin typeface="Aptos Display" panose="020B0004020202020204" pitchFamily="34" charset="0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8F8E02-8139-F675-4774-B00979A3EB18}"/>
              </a:ext>
            </a:extLst>
          </p:cNvPr>
          <p:cNvSpPr txBox="1"/>
          <p:nvPr/>
        </p:nvSpPr>
        <p:spPr>
          <a:xfrm>
            <a:off x="10048875" y="3905250"/>
            <a:ext cx="14287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Retention live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E52731-8DC6-0A1D-4BF3-BFE17A84BC52}"/>
              </a:ext>
            </a:extLst>
          </p:cNvPr>
          <p:cNvSpPr txBox="1"/>
          <p:nvPr/>
        </p:nvSpPr>
        <p:spPr>
          <a:xfrm>
            <a:off x="9867900" y="4333875"/>
            <a:ext cx="1790700" cy="3000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75">
                <a:solidFill>
                  <a:srgbClr val="A8B3C7"/>
                </a:solidFill>
                <a:latin typeface="Aptos" panose="020B0004020202020204" pitchFamily="34" charset="0"/>
              </a:rPr>
              <a:t>Export-before-disposal archival service with audit summaries.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229F57-7440-5D81-EA35-5E33320AAA43}"/>
              </a:ext>
            </a:extLst>
          </p:cNvPr>
          <p:cNvSpPr txBox="1"/>
          <p:nvPr/>
        </p:nvSpPr>
        <p:spPr>
          <a:xfrm>
            <a:off x="1524000" y="5619750"/>
            <a:ext cx="9144000" cy="43858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425">
                <a:solidFill>
                  <a:srgbClr val="6EE7B7"/>
                </a:solidFill>
                <a:latin typeface="Aptos" panose="020B0004020202020204" pitchFamily="34" charset="0"/>
              </a:rPr>
              <a:t>Current standing: Phase 22 handover notes mark S22.1-S22.5 complete/live; remaining items are productization and operational launch readiness.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3AB60-AC86-E91A-35D4-F0EE96B53370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5663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BD779B-3E62-0DF9-812C-2537F091B3E7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815BD0-D313-DDDD-8D27-0B3A82677B9B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COMMERCIAL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32D273-9F33-66FD-3ABF-10EDD1E4F3A7}"/>
              </a:ext>
            </a:extLst>
          </p:cNvPr>
          <p:cNvSpPr txBox="1"/>
          <p:nvPr/>
        </p:nvSpPr>
        <p:spPr>
          <a:xfrm>
            <a:off x="609600" y="838200"/>
            <a:ext cx="790575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 dirty="0">
                <a:solidFill>
                  <a:srgbClr val="F4F7FB"/>
                </a:solidFill>
                <a:latin typeface="Aptos Display" panose="020B0004020202020204" pitchFamily="34" charset="0"/>
              </a:rPr>
              <a:t>The engine compounds value through efficiency, quality, and expansion.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B37B3-8386-072C-04EE-41B374582791}"/>
              </a:ext>
            </a:extLst>
          </p:cNvPr>
          <p:cNvSpPr/>
          <p:nvPr/>
        </p:nvSpPr>
        <p:spPr>
          <a:xfrm>
            <a:off x="1266825" y="2190750"/>
            <a:ext cx="1809750" cy="685800"/>
          </a:xfrm>
          <a:prstGeom prst="rect">
            <a:avLst/>
          </a:prstGeom>
          <a:solidFill>
            <a:srgbClr val="101827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2A62A-E826-D2E9-F454-79F76699F424}"/>
              </a:ext>
            </a:extLst>
          </p:cNvPr>
          <p:cNvSpPr txBox="1"/>
          <p:nvPr/>
        </p:nvSpPr>
        <p:spPr>
          <a:xfrm>
            <a:off x="1438275" y="2381250"/>
            <a:ext cx="146685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Workflow templates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773D29-EEE5-8F52-C235-2B7AF9CA3F26}"/>
              </a:ext>
            </a:extLst>
          </p:cNvPr>
          <p:cNvSpPr/>
          <p:nvPr/>
        </p:nvSpPr>
        <p:spPr>
          <a:xfrm>
            <a:off x="4000500" y="2190750"/>
            <a:ext cx="1809750" cy="685800"/>
          </a:xfrm>
          <a:prstGeom prst="rect">
            <a:avLst/>
          </a:prstGeom>
          <a:solidFill>
            <a:srgbClr val="1018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2F097-EC8F-3DA7-C2A7-64CE79E363F5}"/>
              </a:ext>
            </a:extLst>
          </p:cNvPr>
          <p:cNvSpPr txBox="1"/>
          <p:nvPr/>
        </p:nvSpPr>
        <p:spPr>
          <a:xfrm>
            <a:off x="4171950" y="2381250"/>
            <a:ext cx="146685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Faster implementation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0A8AD5-A26F-BC55-07A5-CD5AEADA8D3B}"/>
              </a:ext>
            </a:extLst>
          </p:cNvPr>
          <p:cNvSpPr/>
          <p:nvPr/>
        </p:nvSpPr>
        <p:spPr>
          <a:xfrm>
            <a:off x="6953250" y="2190750"/>
            <a:ext cx="1809750" cy="685800"/>
          </a:xfrm>
          <a:prstGeom prst="rect">
            <a:avLst/>
          </a:prstGeom>
          <a:solidFill>
            <a:srgbClr val="10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840C1F-828C-0059-B5DA-E41BDF5D2B6E}"/>
              </a:ext>
            </a:extLst>
          </p:cNvPr>
          <p:cNvSpPr txBox="1"/>
          <p:nvPr/>
        </p:nvSpPr>
        <p:spPr>
          <a:xfrm>
            <a:off x="7124700" y="2381250"/>
            <a:ext cx="14668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 dirty="0">
                <a:solidFill>
                  <a:srgbClr val="F4F7FB"/>
                </a:solidFill>
                <a:latin typeface="Aptos Display" panose="020B0004020202020204" pitchFamily="34" charset="0"/>
              </a:rPr>
              <a:t>More trusted runs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31C92-A166-906F-4D76-DA78CAAAB894}"/>
              </a:ext>
            </a:extLst>
          </p:cNvPr>
          <p:cNvSpPr/>
          <p:nvPr/>
        </p:nvSpPr>
        <p:spPr>
          <a:xfrm>
            <a:off x="6953250" y="4857750"/>
            <a:ext cx="1809750" cy="685800"/>
          </a:xfrm>
          <a:prstGeom prst="rect">
            <a:avLst/>
          </a:prstGeom>
          <a:solidFill>
            <a:srgbClr val="101827"/>
          </a:solidFill>
          <a:ln w="12700">
            <a:solidFill>
              <a:srgbClr val="BF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566891-1C09-5EA8-E792-ADB4046A4AFC}"/>
              </a:ext>
            </a:extLst>
          </p:cNvPr>
          <p:cNvSpPr txBox="1"/>
          <p:nvPr/>
        </p:nvSpPr>
        <p:spPr>
          <a:xfrm>
            <a:off x="7124700" y="5048250"/>
            <a:ext cx="14668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 dirty="0">
                <a:solidFill>
                  <a:srgbClr val="F4F7FB"/>
                </a:solidFill>
                <a:latin typeface="Aptos Display" panose="020B0004020202020204" pitchFamily="34" charset="0"/>
              </a:rPr>
              <a:t>Marketplace packs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8951FC-97FB-B290-40FE-76CE2B296BDE}"/>
              </a:ext>
            </a:extLst>
          </p:cNvPr>
          <p:cNvSpPr/>
          <p:nvPr/>
        </p:nvSpPr>
        <p:spPr>
          <a:xfrm>
            <a:off x="4000500" y="4876800"/>
            <a:ext cx="1809750" cy="685800"/>
          </a:xfrm>
          <a:prstGeom prst="rect">
            <a:avLst/>
          </a:prstGeom>
          <a:solidFill>
            <a:srgbClr val="1018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E28305-DF5C-79BC-2E8C-192B23A96752}"/>
              </a:ext>
            </a:extLst>
          </p:cNvPr>
          <p:cNvSpPr txBox="1"/>
          <p:nvPr/>
        </p:nvSpPr>
        <p:spPr>
          <a:xfrm>
            <a:off x="4171950" y="5067300"/>
            <a:ext cx="14668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Reusable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CCA32F-9832-4366-5B17-AD9401492906}"/>
              </a:ext>
            </a:extLst>
          </p:cNvPr>
          <p:cNvSpPr/>
          <p:nvPr/>
        </p:nvSpPr>
        <p:spPr>
          <a:xfrm>
            <a:off x="1266825" y="4875357"/>
            <a:ext cx="1809750" cy="685800"/>
          </a:xfrm>
          <a:prstGeom prst="rect">
            <a:avLst/>
          </a:prstGeom>
          <a:solidFill>
            <a:srgbClr val="1018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DE173B-9AB5-4D90-9FDB-CC33A819450F}"/>
              </a:ext>
            </a:extLst>
          </p:cNvPr>
          <p:cNvSpPr txBox="1"/>
          <p:nvPr/>
        </p:nvSpPr>
        <p:spPr>
          <a:xfrm>
            <a:off x="1438275" y="5065857"/>
            <a:ext cx="14668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350" b="1" dirty="0">
                <a:solidFill>
                  <a:srgbClr val="F4F7FB"/>
                </a:solidFill>
                <a:latin typeface="Aptos Display" panose="020B0004020202020204" pitchFamily="34" charset="0"/>
              </a:rPr>
              <a:t>Lower delivery cost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1919F1-1E59-259B-32C4-A64129CAB7C7}"/>
              </a:ext>
            </a:extLst>
          </p:cNvPr>
          <p:cNvSpPr/>
          <p:nvPr/>
        </p:nvSpPr>
        <p:spPr>
          <a:xfrm>
            <a:off x="3076575" y="2504498"/>
            <a:ext cx="952500" cy="28575"/>
          </a:xfrm>
          <a:prstGeom prst="rect">
            <a:avLst/>
          </a:prstGeom>
          <a:solidFill>
            <a:srgbClr val="3945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99DA89-2744-42F6-A949-889CBF3FE299}"/>
              </a:ext>
            </a:extLst>
          </p:cNvPr>
          <p:cNvSpPr/>
          <p:nvPr/>
        </p:nvSpPr>
        <p:spPr>
          <a:xfrm>
            <a:off x="5810250" y="2533650"/>
            <a:ext cx="1143000" cy="28575"/>
          </a:xfrm>
          <a:prstGeom prst="rect">
            <a:avLst/>
          </a:prstGeom>
          <a:solidFill>
            <a:srgbClr val="3945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DAEEE3-9979-D496-35E9-14DA3040C475}"/>
              </a:ext>
            </a:extLst>
          </p:cNvPr>
          <p:cNvSpPr/>
          <p:nvPr/>
        </p:nvSpPr>
        <p:spPr>
          <a:xfrm flipH="1">
            <a:off x="7886698" y="2876550"/>
            <a:ext cx="45719" cy="1981201"/>
          </a:xfrm>
          <a:prstGeom prst="rect">
            <a:avLst/>
          </a:prstGeom>
          <a:solidFill>
            <a:srgbClr val="3945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8AC8EB-8BCC-EF68-A660-22EBC03114A3}"/>
              </a:ext>
            </a:extLst>
          </p:cNvPr>
          <p:cNvSpPr/>
          <p:nvPr/>
        </p:nvSpPr>
        <p:spPr>
          <a:xfrm>
            <a:off x="5810250" y="5200650"/>
            <a:ext cx="1143000" cy="28575"/>
          </a:xfrm>
          <a:prstGeom prst="rect">
            <a:avLst/>
          </a:prstGeom>
          <a:solidFill>
            <a:srgbClr val="3945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103FC-C58A-D79C-C359-6CE3440C2A06}"/>
              </a:ext>
            </a:extLst>
          </p:cNvPr>
          <p:cNvSpPr/>
          <p:nvPr/>
        </p:nvSpPr>
        <p:spPr>
          <a:xfrm>
            <a:off x="2143125" y="2876550"/>
            <a:ext cx="45719" cy="1998807"/>
          </a:xfrm>
          <a:prstGeom prst="rect">
            <a:avLst/>
          </a:prstGeom>
          <a:solidFill>
            <a:srgbClr val="3945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99C4C1-DCD0-1A30-604B-E32AF5D9532E}"/>
              </a:ext>
            </a:extLst>
          </p:cNvPr>
          <p:cNvSpPr/>
          <p:nvPr/>
        </p:nvSpPr>
        <p:spPr>
          <a:xfrm>
            <a:off x="3048000" y="5218830"/>
            <a:ext cx="952500" cy="28575"/>
          </a:xfrm>
          <a:prstGeom prst="rect">
            <a:avLst/>
          </a:prstGeom>
          <a:solidFill>
            <a:srgbClr val="39455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BCCA1-53E1-8526-5F18-CEAE54793A70}"/>
              </a:ext>
            </a:extLst>
          </p:cNvPr>
          <p:cNvSpPr/>
          <p:nvPr/>
        </p:nvSpPr>
        <p:spPr>
          <a:xfrm>
            <a:off x="3514724" y="3400425"/>
            <a:ext cx="2571750" cy="876300"/>
          </a:xfrm>
          <a:prstGeom prst="rect">
            <a:avLst/>
          </a:prstGeom>
          <a:solidFill>
            <a:srgbClr val="122034"/>
          </a:solidFill>
          <a:ln w="254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8973A9-A028-6279-B6A6-E47DB72011FE}"/>
              </a:ext>
            </a:extLst>
          </p:cNvPr>
          <p:cNvSpPr txBox="1"/>
          <p:nvPr/>
        </p:nvSpPr>
        <p:spPr>
          <a:xfrm>
            <a:off x="3886199" y="3444875"/>
            <a:ext cx="16764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b="1" dirty="0">
                <a:solidFill>
                  <a:srgbClr val="F4F7FB"/>
                </a:solidFill>
                <a:latin typeface="Aptos Display" panose="020B0004020202020204" pitchFamily="34" charset="0"/>
              </a:rPr>
              <a:t>Expansion loop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044FD2-9A83-1A06-DEF1-B4186ADA54E7}"/>
              </a:ext>
            </a:extLst>
          </p:cNvPr>
          <p:cNvSpPr txBox="1"/>
          <p:nvPr/>
        </p:nvSpPr>
        <p:spPr>
          <a:xfrm>
            <a:off x="3752849" y="3756452"/>
            <a:ext cx="20955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900" dirty="0">
                <a:solidFill>
                  <a:srgbClr val="A8B3C7"/>
                </a:solidFill>
                <a:latin typeface="Aptos Mono" panose="020B0009020202020204" pitchFamily="49" charset="0"/>
              </a:rPr>
              <a:t>more packs -&gt; more workflows -&gt; more
governed outcomes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795D02-1256-8C35-0F9D-1B4446CBAF57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70503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288CB2-AD2C-7641-C1B7-5FB8F3925F8D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72654-75D8-73AD-EA66-C29B42750B55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READINESS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23529-9E40-347E-50D0-DEEC0F52C540}"/>
              </a:ext>
            </a:extLst>
          </p:cNvPr>
          <p:cNvSpPr txBox="1"/>
          <p:nvPr/>
        </p:nvSpPr>
        <p:spPr>
          <a:xfrm>
            <a:off x="609600" y="838200"/>
            <a:ext cx="83820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>
                <a:solidFill>
                  <a:srgbClr val="F4F7FB"/>
                </a:solidFill>
                <a:latin typeface="Aptos Display" panose="020B0004020202020204" pitchFamily="34" charset="0"/>
              </a:rPr>
              <a:t>Lados is foundation-ready; launch readiness now depends on operational gates.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0E8A68-C1AA-B3A8-C143-08116C4FC823}"/>
              </a:ext>
            </a:extLst>
          </p:cNvPr>
          <p:cNvSpPr/>
          <p:nvPr/>
        </p:nvSpPr>
        <p:spPr>
          <a:xfrm>
            <a:off x="1123950" y="2133600"/>
            <a:ext cx="9944100" cy="3143250"/>
          </a:xfrm>
          <a:prstGeom prst="rect">
            <a:avLst/>
          </a:prstGeom>
          <a:solidFill>
            <a:srgbClr val="0D1422"/>
          </a:solidFill>
          <a:ln w="12700">
            <a:solidFill>
              <a:srgbClr val="2B34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DC8A8-F69B-E81A-C2DA-79CED8954E08}"/>
              </a:ext>
            </a:extLst>
          </p:cNvPr>
          <p:cNvSpPr txBox="1"/>
          <p:nvPr/>
        </p:nvSpPr>
        <p:spPr>
          <a:xfrm>
            <a:off x="1466850" y="2343150"/>
            <a:ext cx="23812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Official packs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3D2BB-F079-2C44-07BB-7C9C4C64C94C}"/>
              </a:ext>
            </a:extLst>
          </p:cNvPr>
          <p:cNvSpPr txBox="1"/>
          <p:nvPr/>
        </p:nvSpPr>
        <p:spPr>
          <a:xfrm>
            <a:off x="4000500" y="2343150"/>
            <a:ext cx="53340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runtime packs built and validated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75D8-995C-CF18-DD58-C019EFCB4275}"/>
              </a:ext>
            </a:extLst>
          </p:cNvPr>
          <p:cNvSpPr/>
          <p:nvPr/>
        </p:nvSpPr>
        <p:spPr>
          <a:xfrm>
            <a:off x="9715500" y="2324100"/>
            <a:ext cx="819150" cy="2667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01670A-6B4C-9FEB-7F49-1E21FD67C75E}"/>
              </a:ext>
            </a:extLst>
          </p:cNvPr>
          <p:cNvSpPr txBox="1"/>
          <p:nvPr/>
        </p:nvSpPr>
        <p:spPr>
          <a:xfrm>
            <a:off x="9715500" y="2390775"/>
            <a:ext cx="819150" cy="1269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25" b="1">
                <a:solidFill>
                  <a:srgbClr val="090B10"/>
                </a:solidFill>
                <a:latin typeface="Aptos Mono" panose="020B0009020202020204" pitchFamily="49" charset="0"/>
              </a:rPr>
              <a:t>LIVE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D8A8-D78A-5331-FD38-3343993463A0}"/>
              </a:ext>
            </a:extLst>
          </p:cNvPr>
          <p:cNvSpPr/>
          <p:nvPr/>
        </p:nvSpPr>
        <p:spPr>
          <a:xfrm>
            <a:off x="1352550" y="2781300"/>
            <a:ext cx="9486900" cy="952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4FFDB4-FF1C-8251-AEF4-FB2D76ECA4D9}"/>
              </a:ext>
            </a:extLst>
          </p:cNvPr>
          <p:cNvSpPr txBox="1"/>
          <p:nvPr/>
        </p:nvSpPr>
        <p:spPr>
          <a:xfrm>
            <a:off x="1466850" y="2895600"/>
            <a:ext cx="23812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Enterprise foundation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F1888-930F-2694-C298-D0FA8E0ABDE4}"/>
              </a:ext>
            </a:extLst>
          </p:cNvPr>
          <p:cNvSpPr txBox="1"/>
          <p:nvPr/>
        </p:nvSpPr>
        <p:spPr>
          <a:xfrm>
            <a:off x="4000500" y="2895600"/>
            <a:ext cx="53340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departments, analytics, HITL, branching, retention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8EB7A2-D56E-1BB3-B588-264564BCF138}"/>
              </a:ext>
            </a:extLst>
          </p:cNvPr>
          <p:cNvSpPr/>
          <p:nvPr/>
        </p:nvSpPr>
        <p:spPr>
          <a:xfrm>
            <a:off x="9715500" y="2876550"/>
            <a:ext cx="819150" cy="2667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47A5F-BEA8-57DA-65F9-11EF09C0755A}"/>
              </a:ext>
            </a:extLst>
          </p:cNvPr>
          <p:cNvSpPr txBox="1"/>
          <p:nvPr/>
        </p:nvSpPr>
        <p:spPr>
          <a:xfrm>
            <a:off x="9715500" y="2943225"/>
            <a:ext cx="819150" cy="1269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25" b="1">
                <a:solidFill>
                  <a:srgbClr val="090B10"/>
                </a:solidFill>
                <a:latin typeface="Aptos Mono" panose="020B0009020202020204" pitchFamily="49" charset="0"/>
              </a:rPr>
              <a:t>LIVE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A11062-FE49-76F7-35C4-6171F834A7DA}"/>
              </a:ext>
            </a:extLst>
          </p:cNvPr>
          <p:cNvSpPr/>
          <p:nvPr/>
        </p:nvSpPr>
        <p:spPr>
          <a:xfrm>
            <a:off x="1352550" y="3333750"/>
            <a:ext cx="9486900" cy="952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FE54D2-359F-B796-85AF-2D02B8C85763}"/>
              </a:ext>
            </a:extLst>
          </p:cNvPr>
          <p:cNvSpPr txBox="1"/>
          <p:nvPr/>
        </p:nvSpPr>
        <p:spPr>
          <a:xfrm>
            <a:off x="1466850" y="3448050"/>
            <a:ext cx="23812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Queue 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AA20CF-270E-F081-DBAF-57BA064FFF22}"/>
              </a:ext>
            </a:extLst>
          </p:cNvPr>
          <p:cNvSpPr txBox="1"/>
          <p:nvPr/>
        </p:nvSpPr>
        <p:spPr>
          <a:xfrm>
            <a:off x="4000500" y="3448050"/>
            <a:ext cx="53340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fallback works; live Upstash credential verification remains a known watch item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C7A5F2-9192-240B-DDE3-A9ACDC7C88C0}"/>
              </a:ext>
            </a:extLst>
          </p:cNvPr>
          <p:cNvSpPr/>
          <p:nvPr/>
        </p:nvSpPr>
        <p:spPr>
          <a:xfrm>
            <a:off x="9715500" y="3429000"/>
            <a:ext cx="819150" cy="2667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38C932-3769-9C5E-B10A-3953D38E5C12}"/>
              </a:ext>
            </a:extLst>
          </p:cNvPr>
          <p:cNvSpPr txBox="1"/>
          <p:nvPr/>
        </p:nvSpPr>
        <p:spPr>
          <a:xfrm>
            <a:off x="9715500" y="3495675"/>
            <a:ext cx="819150" cy="1269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25" b="1">
                <a:solidFill>
                  <a:srgbClr val="090B10"/>
                </a:solidFill>
                <a:latin typeface="Aptos Mono" panose="020B0009020202020204" pitchFamily="49" charset="0"/>
              </a:rPr>
              <a:t>NEXT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452F12-34FD-A29F-598C-B1EDB6E482F7}"/>
              </a:ext>
            </a:extLst>
          </p:cNvPr>
          <p:cNvSpPr/>
          <p:nvPr/>
        </p:nvSpPr>
        <p:spPr>
          <a:xfrm>
            <a:off x="1352550" y="3886200"/>
            <a:ext cx="9486900" cy="952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C28F23-8D54-D43E-8F8E-81F5C7BF0DFA}"/>
              </a:ext>
            </a:extLst>
          </p:cNvPr>
          <p:cNvSpPr txBox="1"/>
          <p:nvPr/>
        </p:nvSpPr>
        <p:spPr>
          <a:xfrm>
            <a:off x="1466850" y="4000500"/>
            <a:ext cx="23812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Product templates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F9FC18-961E-E19E-558D-6113D361A76C}"/>
              </a:ext>
            </a:extLst>
          </p:cNvPr>
          <p:cNvSpPr txBox="1"/>
          <p:nvPr/>
        </p:nvSpPr>
        <p:spPr>
          <a:xfrm>
            <a:off x="4000500" y="4000500"/>
            <a:ext cx="53340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first official template set and browser E2E remain the next productization gate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BF119-80FA-9023-2113-7ED83D7A4539}"/>
              </a:ext>
            </a:extLst>
          </p:cNvPr>
          <p:cNvSpPr/>
          <p:nvPr/>
        </p:nvSpPr>
        <p:spPr>
          <a:xfrm>
            <a:off x="9715500" y="3981450"/>
            <a:ext cx="819150" cy="2667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C67EAD-22CE-4FB6-9F72-75F415716858}"/>
              </a:ext>
            </a:extLst>
          </p:cNvPr>
          <p:cNvSpPr txBox="1"/>
          <p:nvPr/>
        </p:nvSpPr>
        <p:spPr>
          <a:xfrm>
            <a:off x="9715500" y="4048125"/>
            <a:ext cx="819150" cy="1269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25" b="1">
                <a:solidFill>
                  <a:srgbClr val="090B10"/>
                </a:solidFill>
                <a:latin typeface="Aptos Mono" panose="020B0009020202020204" pitchFamily="49" charset="0"/>
              </a:rPr>
              <a:t>NEXT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A527C1-536A-115F-B735-384A64F4511E}"/>
              </a:ext>
            </a:extLst>
          </p:cNvPr>
          <p:cNvSpPr/>
          <p:nvPr/>
        </p:nvSpPr>
        <p:spPr>
          <a:xfrm>
            <a:off x="1352550" y="4438650"/>
            <a:ext cx="9486900" cy="9525"/>
          </a:xfrm>
          <a:prstGeom prst="rect">
            <a:avLst/>
          </a:prstGeom>
          <a:solidFill>
            <a:srgbClr val="2B34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4B3C60-86C6-2CCC-7641-C1F7FE02FDA2}"/>
              </a:ext>
            </a:extLst>
          </p:cNvPr>
          <p:cNvSpPr txBox="1"/>
          <p:nvPr/>
        </p:nvSpPr>
        <p:spPr>
          <a:xfrm>
            <a:off x="1466850" y="4552950"/>
            <a:ext cx="2381250" cy="20774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50" b="1">
                <a:solidFill>
                  <a:srgbClr val="F4F7FB"/>
                </a:solidFill>
                <a:latin typeface="Aptos Display" panose="020B0004020202020204" pitchFamily="34" charset="0"/>
              </a:rPr>
              <a:t>Production launch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B68281-5EE2-CD97-9421-1DC31A77344E}"/>
              </a:ext>
            </a:extLst>
          </p:cNvPr>
          <p:cNvSpPr txBox="1"/>
          <p:nvPr/>
        </p:nvSpPr>
        <p:spPr>
          <a:xfrm>
            <a:off x="4000500" y="4552950"/>
            <a:ext cx="5334000" cy="17312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25">
                <a:solidFill>
                  <a:srgbClr val="A8B3C7"/>
                </a:solidFill>
                <a:latin typeface="Aptos" panose="020B0004020202020204" pitchFamily="34" charset="0"/>
              </a:rPr>
              <a:t>staging, observability, load/chaos drills, go-live runbook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66E91A-7CF5-DA3C-8A68-597954211D24}"/>
              </a:ext>
            </a:extLst>
          </p:cNvPr>
          <p:cNvSpPr/>
          <p:nvPr/>
        </p:nvSpPr>
        <p:spPr>
          <a:xfrm>
            <a:off x="9715500" y="4533900"/>
            <a:ext cx="819150" cy="2667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EEAFC7-89C1-A133-6112-514CF71243AC}"/>
              </a:ext>
            </a:extLst>
          </p:cNvPr>
          <p:cNvSpPr txBox="1"/>
          <p:nvPr/>
        </p:nvSpPr>
        <p:spPr>
          <a:xfrm>
            <a:off x="9715500" y="4600575"/>
            <a:ext cx="819150" cy="1269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825" b="1">
                <a:solidFill>
                  <a:srgbClr val="090B10"/>
                </a:solidFill>
                <a:latin typeface="Aptos Mono" panose="020B0009020202020204" pitchFamily="49" charset="0"/>
              </a:rPr>
              <a:t>NEXT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1F194D-16D3-6FA8-7DF0-EDE47435730B}"/>
              </a:ext>
            </a:extLst>
          </p:cNvPr>
          <p:cNvSpPr txBox="1"/>
          <p:nvPr/>
        </p:nvSpPr>
        <p:spPr>
          <a:xfrm>
            <a:off x="1924050" y="5715000"/>
            <a:ext cx="8343900" cy="25391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50" b="1">
                <a:solidFill>
                  <a:srgbClr val="4DD8FF"/>
                </a:solidFill>
                <a:latin typeface="Aptos" panose="020B0004020202020204" pitchFamily="34" charset="0"/>
              </a:rPr>
              <a:t>Positioning: strong product foundation, not yet a polished public launch package.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0B4B5D-7484-D492-7EB7-9D2AA7152AAE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9460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EA6D83-D3B5-B019-8ED8-4883733C71BF}"/>
              </a:ext>
            </a:extLst>
          </p:cNvPr>
          <p:cNvSpPr/>
          <p:nvPr/>
        </p:nvSpPr>
        <p:spPr>
          <a:xfrm>
            <a:off x="609600" y="514350"/>
            <a:ext cx="400050" cy="28575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DF477-BE9C-CF67-C154-0246FE6A33E0}"/>
              </a:ext>
            </a:extLst>
          </p:cNvPr>
          <p:cNvSpPr txBox="1"/>
          <p:nvPr/>
        </p:nvSpPr>
        <p:spPr>
          <a:xfrm>
            <a:off x="1104900" y="409575"/>
            <a:ext cx="3429000" cy="1384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00" b="1">
                <a:solidFill>
                  <a:srgbClr val="A8B3C7"/>
                </a:solidFill>
                <a:latin typeface="Aptos Mono" panose="020B0009020202020204" pitchFamily="49" charset="0"/>
              </a:rPr>
              <a:t>NEXT MOVES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87C171-FFD7-CDB0-DD44-D83BBC6B19D1}"/>
              </a:ext>
            </a:extLst>
          </p:cNvPr>
          <p:cNvSpPr txBox="1"/>
          <p:nvPr/>
        </p:nvSpPr>
        <p:spPr>
          <a:xfrm>
            <a:off x="609600" y="838200"/>
            <a:ext cx="85725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150" b="1">
                <a:solidFill>
                  <a:srgbClr val="F4F7FB"/>
                </a:solidFill>
                <a:latin typeface="Aptos Display" panose="020B0004020202020204" pitchFamily="34" charset="0"/>
              </a:rPr>
              <a:t>The next product step is packaging the engine into repeatable, sellable workflows.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AA367C-FFDA-B13C-4480-30D7DB1D25FC}"/>
              </a:ext>
            </a:extLst>
          </p:cNvPr>
          <p:cNvSpPr/>
          <p:nvPr/>
        </p:nvSpPr>
        <p:spPr>
          <a:xfrm>
            <a:off x="952500" y="2095500"/>
            <a:ext cx="4476750" cy="990600"/>
          </a:xfrm>
          <a:prstGeom prst="rect">
            <a:avLst/>
          </a:prstGeom>
          <a:solidFill>
            <a:srgbClr val="0F1727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5F93A-170C-F07C-094D-26122C3C5DC2}"/>
              </a:ext>
            </a:extLst>
          </p:cNvPr>
          <p:cNvSpPr/>
          <p:nvPr/>
        </p:nvSpPr>
        <p:spPr>
          <a:xfrm>
            <a:off x="952500" y="2095500"/>
            <a:ext cx="47625" cy="990600"/>
          </a:xfrm>
          <a:prstGeom prst="rect">
            <a:avLst/>
          </a:prstGeom>
          <a:solidFill>
            <a:srgbClr val="4DD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ED328E-8998-D01B-FBC1-77CB55A5E9EC}"/>
              </a:ext>
            </a:extLst>
          </p:cNvPr>
          <p:cNvSpPr txBox="1"/>
          <p:nvPr/>
        </p:nvSpPr>
        <p:spPr>
          <a:xfrm>
            <a:off x="1143000" y="2238375"/>
            <a:ext cx="41338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Template productization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EAB93-689E-176C-74CE-BDE9BE636203}"/>
              </a:ext>
            </a:extLst>
          </p:cNvPr>
          <p:cNvSpPr txBox="1"/>
          <p:nvPr/>
        </p:nvSpPr>
        <p:spPr>
          <a:xfrm>
            <a:off x="1143000" y="2514600"/>
            <a:ext cx="413385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Ship first official workflow templates with browser E2E: invoice, document review, RFQ, BOQ, progress claim.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661B8-5AB6-3D01-E1CF-9487966593C0}"/>
              </a:ext>
            </a:extLst>
          </p:cNvPr>
          <p:cNvSpPr/>
          <p:nvPr/>
        </p:nvSpPr>
        <p:spPr>
          <a:xfrm>
            <a:off x="6143625" y="2095500"/>
            <a:ext cx="4476750" cy="990600"/>
          </a:xfrm>
          <a:prstGeom prst="rect">
            <a:avLst/>
          </a:prstGeom>
          <a:solidFill>
            <a:srgbClr val="0F1727"/>
          </a:solidFill>
          <a:ln w="12700">
            <a:solidFill>
              <a:srgbClr val="BFA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90DDC-E900-0469-2F4E-81473DC241AF}"/>
              </a:ext>
            </a:extLst>
          </p:cNvPr>
          <p:cNvSpPr/>
          <p:nvPr/>
        </p:nvSpPr>
        <p:spPr>
          <a:xfrm>
            <a:off x="6143625" y="2095500"/>
            <a:ext cx="47625" cy="990600"/>
          </a:xfrm>
          <a:prstGeom prst="rect">
            <a:avLst/>
          </a:prstGeom>
          <a:solidFill>
            <a:srgbClr val="BFA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B322E-9DF3-BE3E-3ADF-8BE661653879}"/>
              </a:ext>
            </a:extLst>
          </p:cNvPr>
          <p:cNvSpPr txBox="1"/>
          <p:nvPr/>
        </p:nvSpPr>
        <p:spPr>
          <a:xfrm>
            <a:off x="6334125" y="2238375"/>
            <a:ext cx="41338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Marketplace 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40BB53-9683-B02F-4F41-A926F3FE96EA}"/>
              </a:ext>
            </a:extLst>
          </p:cNvPr>
          <p:cNvSpPr txBox="1"/>
          <p:nvPr/>
        </p:nvSpPr>
        <p:spPr>
          <a:xfrm>
            <a:off x="6334125" y="2514600"/>
            <a:ext cx="413385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Surface Knowledge Packs and Catalogue Providers without renaming technical data-pack identifiers.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9D3EF-3648-B58A-9479-8BC6C8743AAF}"/>
              </a:ext>
            </a:extLst>
          </p:cNvPr>
          <p:cNvSpPr/>
          <p:nvPr/>
        </p:nvSpPr>
        <p:spPr>
          <a:xfrm>
            <a:off x="952500" y="3524250"/>
            <a:ext cx="4476750" cy="990600"/>
          </a:xfrm>
          <a:prstGeom prst="rect">
            <a:avLst/>
          </a:prstGeom>
          <a:solidFill>
            <a:srgbClr val="0F1727"/>
          </a:solidFill>
          <a:ln w="12700">
            <a:solidFill>
              <a:srgbClr val="6EE7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F0DEE-2939-193D-953C-4B118DCBD533}"/>
              </a:ext>
            </a:extLst>
          </p:cNvPr>
          <p:cNvSpPr/>
          <p:nvPr/>
        </p:nvSpPr>
        <p:spPr>
          <a:xfrm>
            <a:off x="952500" y="3524250"/>
            <a:ext cx="47625" cy="990600"/>
          </a:xfrm>
          <a:prstGeom prst="rect">
            <a:avLst/>
          </a:prstGeom>
          <a:solidFill>
            <a:srgbClr val="6EE7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9BCDDC-4E25-3163-18A8-42BBDCF58EB7}"/>
              </a:ext>
            </a:extLst>
          </p:cNvPr>
          <p:cNvSpPr txBox="1"/>
          <p:nvPr/>
        </p:nvSpPr>
        <p:spPr>
          <a:xfrm>
            <a:off x="1143000" y="3667125"/>
            <a:ext cx="41338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Operational launch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DE02A5-A9C7-62F3-A242-B9123FFF2474}"/>
              </a:ext>
            </a:extLst>
          </p:cNvPr>
          <p:cNvSpPr txBox="1"/>
          <p:nvPr/>
        </p:nvSpPr>
        <p:spPr>
          <a:xfrm>
            <a:off x="1143000" y="3943350"/>
            <a:ext cx="413385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Staging, observability, Redis verification, queue drills, Sentry, runbook, production smoke tests.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D42286-275C-B2D6-E405-54B379D7AC69}"/>
              </a:ext>
            </a:extLst>
          </p:cNvPr>
          <p:cNvSpPr/>
          <p:nvPr/>
        </p:nvSpPr>
        <p:spPr>
          <a:xfrm>
            <a:off x="6143625" y="3524250"/>
            <a:ext cx="4476750" cy="990600"/>
          </a:xfrm>
          <a:prstGeom prst="rect">
            <a:avLst/>
          </a:prstGeom>
          <a:solidFill>
            <a:srgbClr val="0F1727"/>
          </a:solidFill>
          <a:ln w="12700">
            <a:solidFill>
              <a:srgbClr val="FFB8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00C3C6-81DD-A3AE-4DFA-EBC3188E2557}"/>
              </a:ext>
            </a:extLst>
          </p:cNvPr>
          <p:cNvSpPr/>
          <p:nvPr/>
        </p:nvSpPr>
        <p:spPr>
          <a:xfrm>
            <a:off x="6143625" y="3524250"/>
            <a:ext cx="47625" cy="990600"/>
          </a:xfrm>
          <a:prstGeom prst="rect">
            <a:avLst/>
          </a:prstGeom>
          <a:solidFill>
            <a:srgbClr val="FFB8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9547D8-B25F-E678-34C1-3032034BAB23}"/>
              </a:ext>
            </a:extLst>
          </p:cNvPr>
          <p:cNvSpPr txBox="1"/>
          <p:nvPr/>
        </p:nvSpPr>
        <p:spPr>
          <a:xfrm>
            <a:off x="6334125" y="3667125"/>
            <a:ext cx="41338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 b="1">
                <a:solidFill>
                  <a:srgbClr val="F4F7FB"/>
                </a:solidFill>
                <a:latin typeface="Aptos Display" panose="020B0004020202020204" pitchFamily="34" charset="0"/>
              </a:rPr>
              <a:t>Commercial edition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082C3F-6652-6FBE-D510-2B8F2DCBE83A}"/>
              </a:ext>
            </a:extLst>
          </p:cNvPr>
          <p:cNvSpPr txBox="1"/>
          <p:nvPr/>
        </p:nvSpPr>
        <p:spPr>
          <a:xfrm>
            <a:off x="6334125" y="3943350"/>
            <a:ext cx="413385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50">
                <a:solidFill>
                  <a:srgbClr val="A8B3C7"/>
                </a:solidFill>
                <a:latin typeface="Aptos" panose="020B0004020202020204" pitchFamily="34" charset="0"/>
              </a:rPr>
              <a:t>Contractor/QS workflows become the first proof market, while the engine remains universal.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28A9B4-E980-711E-BECE-B5C0BE1A644D}"/>
              </a:ext>
            </a:extLst>
          </p:cNvPr>
          <p:cNvSpPr/>
          <p:nvPr/>
        </p:nvSpPr>
        <p:spPr>
          <a:xfrm>
            <a:off x="2809875" y="5314950"/>
            <a:ext cx="6572250" cy="514350"/>
          </a:xfrm>
          <a:prstGeom prst="rect">
            <a:avLst/>
          </a:prstGeom>
          <a:solidFill>
            <a:srgbClr val="122034"/>
          </a:solidFill>
          <a:ln w="12700">
            <a:solidFill>
              <a:srgbClr val="4DD8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D5FBDA-175E-7AD2-36AD-A9CFD753556B}"/>
              </a:ext>
            </a:extLst>
          </p:cNvPr>
          <p:cNvSpPr txBox="1"/>
          <p:nvPr/>
        </p:nvSpPr>
        <p:spPr>
          <a:xfrm>
            <a:off x="3095625" y="5467350"/>
            <a:ext cx="6000750" cy="3924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275" b="1">
                <a:solidFill>
                  <a:srgbClr val="F4F7FB"/>
                </a:solidFill>
                <a:latin typeface="Aptos" panose="020B0004020202020204" pitchFamily="34" charset="0"/>
              </a:rPr>
              <a:t>Decision frame: build the launch package around one excellent workflow story, then expand the pack catalogue around proven use.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D7187-3234-54C0-AFF6-81BDE08D4DB3}"/>
              </a:ext>
            </a:extLst>
          </p:cNvPr>
          <p:cNvSpPr txBox="1"/>
          <p:nvPr/>
        </p:nvSpPr>
        <p:spPr>
          <a:xfrm>
            <a:off x="11296650" y="6381750"/>
            <a:ext cx="381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sz="800">
                <a:solidFill>
                  <a:srgbClr val="657089"/>
                </a:solidFill>
                <a:latin typeface="Aptos Mono" panose="020B0009020202020204" pitchFamily="49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52068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875</Words>
  <Application>Microsoft Office PowerPoint</Application>
  <PresentationFormat>Widescreen</PresentationFormat>
  <Paragraphs>151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Aptos Mono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10</cp:revision>
  <dcterms:created xsi:type="dcterms:W3CDTF">2026-07-08T10:41:29Z</dcterms:created>
  <dcterms:modified xsi:type="dcterms:W3CDTF">2026-07-08T23:34:35Z</dcterms:modified>
</cp:coreProperties>
</file>