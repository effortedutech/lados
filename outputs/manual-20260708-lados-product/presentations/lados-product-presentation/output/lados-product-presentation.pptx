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80B39C5-9463-448F-A55A-41C206D5DB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4C733F-05BE-4BAA-9F9B-6128644AB5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marker">
            <a:extLst>
              <a:ext uri="{FF2B5EF4-FFF2-40B4-BE49-F238E27FC236}">
                <a16:creationId xmlns:a16="http://schemas.microsoft.com/office/drawing/2014/main" id="{68ED99AB-E722-405A-A532-7313C4380E05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400050" cy="28575"/>
          </a:xfrm>
          <a:prstGeom prst="rect">
            <a:avLst/>
          </a:prstGeom>
          <a:solidFill>
            <a:srgbClr val="4D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1-label">
            <a:extLst>
              <a:ext uri="{FF2B5EF4-FFF2-40B4-BE49-F238E27FC236}">
                <a16:creationId xmlns:a16="http://schemas.microsoft.com/office/drawing/2014/main" id="{B2AD4723-E3A7-422A-8D38-EBC5BD452B9B}"/>
              </a:ext>
            </a:extLst>
          </p:cNvPr>
          <p:cNvSpPr>
            <a:spLocks noGrp="1"/>
          </p:cNvSpPr>
          <p:nvPr/>
        </p:nvSpPr>
        <p:spPr>
          <a:xfrm>
            <a:off x="1104900" y="40957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PRODUCT PRESENTATION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964D47-E9F6-4AA8-BC24-978A5F6CCFC3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75247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9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Lados is the operating layer for governed business workflows.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72E8FF-B6D1-47A7-B5F5-6A80F9D89FCC}"/>
              </a:ext>
            </a:extLst>
          </p:cNvPr>
          <p:cNvSpPr>
            <a:spLocks noGrp="1"/>
          </p:cNvSpPr>
          <p:nvPr/>
        </p:nvSpPr>
        <p:spPr>
          <a:xfrm>
            <a:off x="647700" y="2714625"/>
            <a:ext cx="6191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 pack-based platform where workflows, humans, AI, resources, and audit trails execute through one shared engine.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2A9B36-C8AC-4A71-A387-7CCF62F6D7CE}"/>
              </a:ext>
            </a:extLst>
          </p:cNvPr>
          <p:cNvSpPr>
            <a:spLocks noGrp="1"/>
          </p:cNvSpPr>
          <p:nvPr/>
        </p:nvSpPr>
        <p:spPr>
          <a:xfrm>
            <a:off x="7791450" y="923925"/>
            <a:ext cx="3143250" cy="3143250"/>
          </a:xfrm>
          <a:prstGeom prst="rect">
            <a:avLst/>
          </a:prstGeom>
          <a:solidFill>
            <a:srgbClr val="0E1421"/>
          </a:solidFill>
          <a:ln w="9525">
            <a:solidFill>
              <a:srgbClr val="2B3448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8B91B7-1FC6-4ACB-879B-41494EAE9348}"/>
              </a:ext>
            </a:extLst>
          </p:cNvPr>
          <p:cNvSpPr>
            <a:spLocks noGrp="1"/>
          </p:cNvSpPr>
          <p:nvPr/>
        </p:nvSpPr>
        <p:spPr>
          <a:xfrm>
            <a:off x="8258175" y="1362075"/>
            <a:ext cx="2247900" cy="2247900"/>
          </a:xfrm>
          <a:prstGeom prst="rect">
            <a:avLst/>
          </a:prstGeom>
          <a:solidFill>
            <a:srgbClr val="101C2D"/>
          </a:solidFill>
          <a:ln w="19050">
            <a:solidFill>
              <a:srgbClr val="4DD8F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DCEF24-CE1A-490F-BD7F-C6BB682368F4}"/>
              </a:ext>
            </a:extLst>
          </p:cNvPr>
          <p:cNvSpPr>
            <a:spLocks noGrp="1"/>
          </p:cNvSpPr>
          <p:nvPr/>
        </p:nvSpPr>
        <p:spPr>
          <a:xfrm>
            <a:off x="8705850" y="1809750"/>
            <a:ext cx="1352550" cy="1352550"/>
          </a:xfrm>
          <a:prstGeom prst="rect">
            <a:avLst/>
          </a:prstGeom>
          <a:solidFill>
            <a:srgbClr val="152338"/>
          </a:solidFill>
          <a:ln w="19050">
            <a:solidFill>
              <a:srgbClr val="FFB86B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5E7245-B471-419B-AE03-9ABAFC2763F3}"/>
              </a:ext>
            </a:extLst>
          </p:cNvPr>
          <p:cNvSpPr>
            <a:spLocks noGrp="1"/>
          </p:cNvSpPr>
          <p:nvPr/>
        </p:nvSpPr>
        <p:spPr>
          <a:xfrm>
            <a:off x="9096375" y="2200275"/>
            <a:ext cx="571500" cy="571500"/>
          </a:xfrm>
          <a:prstGeom prst="rect">
            <a:avLst/>
          </a:prstGeom>
          <a:solidFill>
            <a:srgbClr val="4DD8FF"/>
          </a:solidFill>
          <a:ln w="0">
            <a:solidFill>
              <a:srgbClr val="4DD8F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DC4997-0582-41C3-973C-799112A4271E}"/>
              </a:ext>
            </a:extLst>
          </p:cNvPr>
          <p:cNvSpPr>
            <a:spLocks noGrp="1"/>
          </p:cNvSpPr>
          <p:nvPr/>
        </p:nvSpPr>
        <p:spPr>
          <a:xfrm>
            <a:off x="8420100" y="41148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LADOS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8BB1E5-D5E2-4B28-B526-609C342BD781}"/>
              </a:ext>
            </a:extLst>
          </p:cNvPr>
          <p:cNvSpPr>
            <a:spLocks noGrp="1"/>
          </p:cNvSpPr>
          <p:nvPr/>
        </p:nvSpPr>
        <p:spPr>
          <a:xfrm>
            <a:off x="7924800" y="4457700"/>
            <a:ext cx="3009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Universal workflow engine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F1F45-53E4-4A31-B7C2-F317F312EC57}"/>
              </a:ext>
            </a:extLst>
          </p:cNvPr>
          <p:cNvSpPr>
            <a:spLocks noGrp="1"/>
          </p:cNvSpPr>
          <p:nvPr/>
        </p:nvSpPr>
        <p:spPr>
          <a:xfrm>
            <a:off x="647700" y="4762500"/>
            <a:ext cx="171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4DD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4DD8FF"/>
                </a:solidFill>
                <a:latin typeface="Aptos Display"/>
                <a:ea typeface="Aptos Display"/>
                <a:cs typeface="Aptos Display"/>
              </a:rPr>
              <a:t>21+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DE3A38-25C1-430F-8BA0-C7ED1C5AC08C}"/>
              </a:ext>
            </a:extLst>
          </p:cNvPr>
          <p:cNvSpPr>
            <a:spLocks noGrp="1"/>
          </p:cNvSpPr>
          <p:nvPr/>
        </p:nvSpPr>
        <p:spPr>
          <a:xfrm>
            <a:off x="647700" y="5219700"/>
            <a:ext cx="1695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official capability packs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C89F4B-0817-4BA5-83C0-0C7411786720}"/>
              </a:ext>
            </a:extLst>
          </p:cNvPr>
          <p:cNvSpPr>
            <a:spLocks noGrp="1"/>
          </p:cNvSpPr>
          <p:nvPr/>
        </p:nvSpPr>
        <p:spPr>
          <a:xfrm>
            <a:off x="2724150" y="4762500"/>
            <a:ext cx="171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6EE7B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6EE7B7"/>
                </a:solidFill>
                <a:latin typeface="Aptos Display"/>
                <a:ea typeface="Aptos Display"/>
                <a:cs typeface="Aptos Display"/>
              </a:rPr>
              <a:t>5/5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2E62D6-159A-433C-905B-2B462D1EA8F2}"/>
              </a:ext>
            </a:extLst>
          </p:cNvPr>
          <p:cNvSpPr>
            <a:spLocks noGrp="1"/>
          </p:cNvSpPr>
          <p:nvPr/>
        </p:nvSpPr>
        <p:spPr>
          <a:xfrm>
            <a:off x="2724150" y="5219700"/>
            <a:ext cx="1695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Phase 22 sprints complete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393CC6-659B-4EC2-9248-96A3386CDE68}"/>
              </a:ext>
            </a:extLst>
          </p:cNvPr>
          <p:cNvSpPr>
            <a:spLocks noGrp="1"/>
          </p:cNvSpPr>
          <p:nvPr/>
        </p:nvSpPr>
        <p:spPr>
          <a:xfrm>
            <a:off x="4800600" y="4762500"/>
            <a:ext cx="171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4DD8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4DD8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B98889-D96A-494F-B75D-648C51B8CBC7}"/>
              </a:ext>
            </a:extLst>
          </p:cNvPr>
          <p:cNvSpPr>
            <a:spLocks noGrp="1"/>
          </p:cNvSpPr>
          <p:nvPr/>
        </p:nvSpPr>
        <p:spPr>
          <a:xfrm>
            <a:off x="4800600" y="5219700"/>
            <a:ext cx="1695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engine for every domain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24E233-DEFE-47D1-9213-2EEF15B53585}"/>
              </a:ext>
            </a:extLst>
          </p:cNvPr>
          <p:cNvSpPr>
            <a:spLocks noGrp="1"/>
          </p:cNvSpPr>
          <p:nvPr/>
        </p:nvSpPr>
        <p:spPr>
          <a:xfrm>
            <a:off x="628650" y="5905500"/>
            <a:ext cx="7048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5708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57089"/>
                </a:solidFill>
                <a:latin typeface="Aptos"/>
                <a:ea typeface="Aptos"/>
                <a:cs typeface="Aptos"/>
              </a:rPr>
              <a:t>Built from project documentation and Graphify code navigation; no unverified logo or screenshot assets used.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9C6CE9-DE6B-4517-A757-56152D1DA550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723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0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9"/>
                </a:solidFill>
                <a:latin typeface="Aptos"/>
                <a:ea typeface="Aptos"/>
                <a:cs typeface="Aptos"/>
              </a:rPr>
              <a:t>Source: project docs, Graphify findings, and inspected repo structure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A83F90-906C-46F5-BB10-E14EFB1E0E6F}"/>
              </a:ext>
            </a:extLst>
          </p:cNvPr>
          <p:cNvSpPr>
            <a:spLocks noGrp="1"/>
          </p:cNvSpPr>
          <p:nvPr/>
        </p:nvSpPr>
        <p:spPr>
          <a:xfrm>
            <a:off x="11296650" y="63817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0274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88F1BAAD-A3E4-4073-9747-CD8A3A17FA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57BB10-4353-4CEC-866C-FE2FAB7CAF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marker">
            <a:extLst>
              <a:ext uri="{FF2B5EF4-FFF2-40B4-BE49-F238E27FC236}">
                <a16:creationId xmlns:a16="http://schemas.microsoft.com/office/drawing/2014/main" id="{81D32B48-361A-466E-98C7-DEC48756A30B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400050" cy="28575"/>
          </a:xfrm>
          <a:prstGeom prst="rect">
            <a:avLst/>
          </a:prstGeom>
          <a:solidFill>
            <a:srgbClr val="4D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1-label">
            <a:extLst>
              <a:ext uri="{FF2B5EF4-FFF2-40B4-BE49-F238E27FC236}">
                <a16:creationId xmlns:a16="http://schemas.microsoft.com/office/drawing/2014/main" id="{A1C955A6-8B1F-4C72-866C-4533B5C86C77}"/>
              </a:ext>
            </a:extLst>
          </p:cNvPr>
          <p:cNvSpPr>
            <a:spLocks noGrp="1"/>
          </p:cNvSpPr>
          <p:nvPr/>
        </p:nvSpPr>
        <p:spPr>
          <a:xfrm>
            <a:off x="1104900" y="40957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SYSTEM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DECB24-EF9D-42F8-BAD0-BC4004D7AA5E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75247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The platform separates workflow logic from industry capability.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554214-1133-44AD-9B73-A9D4B43DD7A9}"/>
              </a:ext>
            </a:extLst>
          </p:cNvPr>
          <p:cNvSpPr>
            <a:spLocks noGrp="1"/>
          </p:cNvSpPr>
          <p:nvPr/>
        </p:nvSpPr>
        <p:spPr>
          <a:xfrm>
            <a:off x="904875" y="2000250"/>
            <a:ext cx="7334250" cy="571500"/>
          </a:xfrm>
          <a:prstGeom prst="rect">
            <a:avLst/>
          </a:prstGeom>
          <a:solidFill>
            <a:srgbClr val="111827"/>
          </a:solidFill>
          <a:ln w="9525">
            <a:solidFill>
              <a:srgbClr val="BFA7F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6C4D3D-84BB-4547-9AC0-3BB57C152E80}"/>
              </a:ext>
            </a:extLst>
          </p:cNvPr>
          <p:cNvSpPr>
            <a:spLocks noGrp="1"/>
          </p:cNvSpPr>
          <p:nvPr/>
        </p:nvSpPr>
        <p:spPr>
          <a:xfrm>
            <a:off x="904875" y="2000250"/>
            <a:ext cx="47625" cy="571500"/>
          </a:xfrm>
          <a:prstGeom prst="rect">
            <a:avLst/>
          </a:prstGeom>
          <a:solidFill>
            <a:srgbClr val="BFA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3707BD-4C7C-40B9-8FDC-01E4A9A036C8}"/>
              </a:ext>
            </a:extLst>
          </p:cNvPr>
          <p:cNvSpPr>
            <a:spLocks noGrp="1"/>
          </p:cNvSpPr>
          <p:nvPr/>
        </p:nvSpPr>
        <p:spPr>
          <a:xfrm>
            <a:off x="1095375" y="2143125"/>
            <a:ext cx="6991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Experience layer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FAAD52-AE71-49CE-B16D-66BB0609CBDC}"/>
              </a:ext>
            </a:extLst>
          </p:cNvPr>
          <p:cNvSpPr>
            <a:spLocks noGrp="1"/>
          </p:cNvSpPr>
          <p:nvPr/>
        </p:nvSpPr>
        <p:spPr>
          <a:xfrm>
            <a:off x="1095375" y="2419350"/>
            <a:ext cx="6991350" cy="38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Next.js app: canvas, approvals, resources, marketplace, operations dashboard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179AC9-CD3B-483F-BA44-C9552486A378}"/>
              </a:ext>
            </a:extLst>
          </p:cNvPr>
          <p:cNvSpPr>
            <a:spLocks noGrp="1"/>
          </p:cNvSpPr>
          <p:nvPr/>
        </p:nvSpPr>
        <p:spPr>
          <a:xfrm>
            <a:off x="1076325" y="2686050"/>
            <a:ext cx="6991350" cy="571500"/>
          </a:xfrm>
          <a:prstGeom prst="rect">
            <a:avLst/>
          </a:prstGeom>
          <a:solidFill>
            <a:srgbClr val="0E1625"/>
          </a:solidFill>
          <a:ln w="9525">
            <a:solidFill>
              <a:srgbClr val="4DD8F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6CFA3F-F163-4D4C-B8DD-CB99B6ED2337}"/>
              </a:ext>
            </a:extLst>
          </p:cNvPr>
          <p:cNvSpPr>
            <a:spLocks noGrp="1"/>
          </p:cNvSpPr>
          <p:nvPr/>
        </p:nvSpPr>
        <p:spPr>
          <a:xfrm>
            <a:off x="1076325" y="2686050"/>
            <a:ext cx="47625" cy="571500"/>
          </a:xfrm>
          <a:prstGeom prst="rect">
            <a:avLst/>
          </a:prstGeom>
          <a:solidFill>
            <a:srgbClr val="4D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DB4207-167F-444A-84F0-E9AA47B01E2A}"/>
              </a:ext>
            </a:extLst>
          </p:cNvPr>
          <p:cNvSpPr>
            <a:spLocks noGrp="1"/>
          </p:cNvSpPr>
          <p:nvPr/>
        </p:nvSpPr>
        <p:spPr>
          <a:xfrm>
            <a:off x="1266825" y="2828925"/>
            <a:ext cx="6648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API orchestration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2D3A7-614F-41A1-B131-184479226893}"/>
              </a:ext>
            </a:extLst>
          </p:cNvPr>
          <p:cNvSpPr>
            <a:spLocks noGrp="1"/>
          </p:cNvSpPr>
          <p:nvPr/>
        </p:nvSpPr>
        <p:spPr>
          <a:xfrm>
            <a:off x="1266825" y="3105150"/>
            <a:ext cx="6648450" cy="38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NestJS modules: workflow, execution, approvals, pack registry, analytics, retention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FC9DD2-CC0C-46E8-8AFE-5538D0631BC4}"/>
              </a:ext>
            </a:extLst>
          </p:cNvPr>
          <p:cNvSpPr>
            <a:spLocks noGrp="1"/>
          </p:cNvSpPr>
          <p:nvPr/>
        </p:nvSpPr>
        <p:spPr>
          <a:xfrm>
            <a:off x="1247775" y="3371850"/>
            <a:ext cx="6648450" cy="571500"/>
          </a:xfrm>
          <a:prstGeom prst="rect">
            <a:avLst/>
          </a:prstGeom>
          <a:solidFill>
            <a:srgbClr val="111827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C1D4BE-439F-485C-82CC-A3D7B37E9AE2}"/>
              </a:ext>
            </a:extLst>
          </p:cNvPr>
          <p:cNvSpPr>
            <a:spLocks noGrp="1"/>
          </p:cNvSpPr>
          <p:nvPr/>
        </p:nvSpPr>
        <p:spPr>
          <a:xfrm>
            <a:off x="1247775" y="3371850"/>
            <a:ext cx="47625" cy="571500"/>
          </a:xfrm>
          <a:prstGeom prst="rect">
            <a:avLst/>
          </a:prstGeom>
          <a:solidFill>
            <a:srgbClr val="6EE7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A05F20-F3C6-458C-88D3-EFEE34194A07}"/>
              </a:ext>
            </a:extLst>
          </p:cNvPr>
          <p:cNvSpPr>
            <a:spLocks noGrp="1"/>
          </p:cNvSpPr>
          <p:nvPr/>
        </p:nvSpPr>
        <p:spPr>
          <a:xfrm>
            <a:off x="1438275" y="3514725"/>
            <a:ext cx="6305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Execution core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2026FF-C82C-479D-831C-6DF1E42C121F}"/>
              </a:ext>
            </a:extLst>
          </p:cNvPr>
          <p:cNvSpPr>
            <a:spLocks noGrp="1"/>
          </p:cNvSpPr>
          <p:nvPr/>
        </p:nvSpPr>
        <p:spPr>
          <a:xfrm>
            <a:off x="1438275" y="3790950"/>
            <a:ext cx="6305550" cy="38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Runner, queue fallback, port-aware input resolution, state, event, audit, security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7D6B55-FE06-4CA6-BE26-F27ECDEFDC36}"/>
              </a:ext>
            </a:extLst>
          </p:cNvPr>
          <p:cNvSpPr>
            <a:spLocks noGrp="1"/>
          </p:cNvSpPr>
          <p:nvPr/>
        </p:nvSpPr>
        <p:spPr>
          <a:xfrm>
            <a:off x="1419225" y="4057650"/>
            <a:ext cx="6305550" cy="571500"/>
          </a:xfrm>
          <a:prstGeom prst="rect">
            <a:avLst/>
          </a:prstGeom>
          <a:solidFill>
            <a:srgbClr val="0E1625"/>
          </a:solidFill>
          <a:ln w="9525">
            <a:solidFill>
              <a:srgbClr val="FFB86B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C17DF9-11F9-49A5-891A-AE10C69EC2F1}"/>
              </a:ext>
            </a:extLst>
          </p:cNvPr>
          <p:cNvSpPr>
            <a:spLocks noGrp="1"/>
          </p:cNvSpPr>
          <p:nvPr/>
        </p:nvSpPr>
        <p:spPr>
          <a:xfrm>
            <a:off x="1419225" y="4057650"/>
            <a:ext cx="47625" cy="571500"/>
          </a:xfrm>
          <a:prstGeom prst="rect">
            <a:avLst/>
          </a:prstGeom>
          <a:solidFill>
            <a:srgbClr val="FFB8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97B707-12F4-4C9A-B244-0BBD14507B78}"/>
              </a:ext>
            </a:extLst>
          </p:cNvPr>
          <p:cNvSpPr>
            <a:spLocks noGrp="1"/>
          </p:cNvSpPr>
          <p:nvPr/>
        </p:nvSpPr>
        <p:spPr>
          <a:xfrm>
            <a:off x="1609725" y="4200525"/>
            <a:ext cx="596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Capability packs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59B979-BBBB-4C09-912E-9FD09FAAC73C}"/>
              </a:ext>
            </a:extLst>
          </p:cNvPr>
          <p:cNvSpPr>
            <a:spLocks noGrp="1"/>
          </p:cNvSpPr>
          <p:nvPr/>
        </p:nvSpPr>
        <p:spPr>
          <a:xfrm>
            <a:off x="1609725" y="4476750"/>
            <a:ext cx="5962650" cy="38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Official L0/L1/L2 packs: foundation, human work, document, finance, QS, procurement, asset, payroll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A26BE3-AA92-4A9C-9EB7-7E5281E326BC}"/>
              </a:ext>
            </a:extLst>
          </p:cNvPr>
          <p:cNvSpPr>
            <a:spLocks noGrp="1"/>
          </p:cNvSpPr>
          <p:nvPr/>
        </p:nvSpPr>
        <p:spPr>
          <a:xfrm>
            <a:off x="1590675" y="4743450"/>
            <a:ext cx="5962650" cy="571500"/>
          </a:xfrm>
          <a:prstGeom prst="rect">
            <a:avLst/>
          </a:prstGeom>
          <a:solidFill>
            <a:srgbClr val="111827"/>
          </a:solidFill>
          <a:ln w="9525">
            <a:solidFill>
              <a:srgbClr val="A8B3C7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732B63-4952-4119-A9C4-BA3E9DE28483}"/>
              </a:ext>
            </a:extLst>
          </p:cNvPr>
          <p:cNvSpPr>
            <a:spLocks noGrp="1"/>
          </p:cNvSpPr>
          <p:nvPr/>
        </p:nvSpPr>
        <p:spPr>
          <a:xfrm>
            <a:off x="1590675" y="4743450"/>
            <a:ext cx="47625" cy="571500"/>
          </a:xfrm>
          <a:prstGeom prst="rect">
            <a:avLst/>
          </a:prstGeom>
          <a:solidFill>
            <a:srgbClr val="A8B3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55B952-D6CE-4539-9E0C-4F38DD9FB80B}"/>
              </a:ext>
            </a:extLst>
          </p:cNvPr>
          <p:cNvSpPr>
            <a:spLocks noGrp="1"/>
          </p:cNvSpPr>
          <p:nvPr/>
        </p:nvSpPr>
        <p:spPr>
          <a:xfrm>
            <a:off x="1781175" y="4886325"/>
            <a:ext cx="561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Data foundation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99F2F8-CF98-4569-85CD-A35A11A6A32A}"/>
              </a:ext>
            </a:extLst>
          </p:cNvPr>
          <p:cNvSpPr>
            <a:spLocks noGrp="1"/>
          </p:cNvSpPr>
          <p:nvPr/>
        </p:nvSpPr>
        <p:spPr>
          <a:xfrm>
            <a:off x="1781175" y="5162550"/>
            <a:ext cx="5619750" cy="38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Supabase resources, workflow versions, runs, tasks, rollups, storage, knowledge/catalogue data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54C979-BB81-4243-84A2-8AF944A71101}"/>
              </a:ext>
            </a:extLst>
          </p:cNvPr>
          <p:cNvSpPr>
            <a:spLocks noGrp="1"/>
          </p:cNvSpPr>
          <p:nvPr/>
        </p:nvSpPr>
        <p:spPr>
          <a:xfrm>
            <a:off x="8572500" y="2095500"/>
            <a:ext cx="2667000" cy="2266950"/>
          </a:xfrm>
          <a:prstGeom prst="rect">
            <a:avLst/>
          </a:prstGeom>
          <a:solidFill>
            <a:srgbClr val="0E1421"/>
          </a:solidFill>
          <a:ln w="9525">
            <a:solidFill>
              <a:srgbClr val="2B3448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DEBC00-2E54-4E22-88E3-F93FCAB1C7F3}"/>
              </a:ext>
            </a:extLst>
          </p:cNvPr>
          <p:cNvSpPr>
            <a:spLocks noGrp="1"/>
          </p:cNvSpPr>
          <p:nvPr/>
        </p:nvSpPr>
        <p:spPr>
          <a:xfrm>
            <a:off x="8839200" y="236220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Why it matters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D5C344A-624D-4F82-8903-D76E5740F03C}"/>
              </a:ext>
            </a:extLst>
          </p:cNvPr>
          <p:cNvSpPr>
            <a:spLocks noGrp="1"/>
          </p:cNvSpPr>
          <p:nvPr/>
        </p:nvSpPr>
        <p:spPr>
          <a:xfrm>
            <a:off x="8839200" y="2819400"/>
            <a:ext cx="2095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 construction workflow, a procurement workflow, and a payroll workflow all inherit the same execution, audit, approval, resource, and retention mechanics.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151CE57-EF03-4ECF-9B78-8528DC926EA9}"/>
              </a:ext>
            </a:extLst>
          </p:cNvPr>
          <p:cNvSpPr>
            <a:spLocks noGrp="1"/>
          </p:cNvSpPr>
          <p:nvPr/>
        </p:nvSpPr>
        <p:spPr>
          <a:xfrm>
            <a:off x="8820150" y="3857625"/>
            <a:ext cx="2152650" cy="400050"/>
          </a:xfrm>
          <a:prstGeom prst="rect">
            <a:avLst/>
          </a:prstGeom>
          <a:solidFill>
            <a:srgbClr val="122034"/>
          </a:solidFill>
          <a:ln w="9525">
            <a:solidFill>
              <a:srgbClr val="4DD8FF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FE4C432-4DA7-4635-9E82-56BFC679DEF0}"/>
              </a:ext>
            </a:extLst>
          </p:cNvPr>
          <p:cNvSpPr>
            <a:spLocks noGrp="1"/>
          </p:cNvSpPr>
          <p:nvPr/>
        </p:nvSpPr>
        <p:spPr>
          <a:xfrm>
            <a:off x="8991600" y="3981450"/>
            <a:ext cx="1809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4DD8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DD8FF"/>
                </a:solidFill>
                <a:latin typeface="Aptos"/>
                <a:ea typeface="Aptos"/>
                <a:cs typeface="Aptos"/>
              </a:rPr>
              <a:t>Foundation first; domain packs second.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475737F-C6AE-461B-9DC6-1030F5432F49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723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0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9"/>
                </a:solidFill>
                <a:latin typeface="Aptos"/>
                <a:ea typeface="Aptos"/>
                <a:cs typeface="Aptos"/>
              </a:rPr>
              <a:t>Source: project docs, Graphify findings, and inspected repo structure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C93BC04-B041-4499-9A93-5355F0931234}"/>
              </a:ext>
            </a:extLst>
          </p:cNvPr>
          <p:cNvSpPr>
            <a:spLocks noGrp="1"/>
          </p:cNvSpPr>
          <p:nvPr/>
        </p:nvSpPr>
        <p:spPr>
          <a:xfrm>
            <a:off x="11296650" y="63817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91602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FE409D2A-CF53-40D2-9BB9-715AAD0A49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4790C8-7264-4012-AEFD-FA3FB52062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marker">
            <a:extLst>
              <a:ext uri="{FF2B5EF4-FFF2-40B4-BE49-F238E27FC236}">
                <a16:creationId xmlns:a16="http://schemas.microsoft.com/office/drawing/2014/main" id="{405FB714-83CB-4DDD-995E-7045221A9D4F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400050" cy="28575"/>
          </a:xfrm>
          <a:prstGeom prst="rect">
            <a:avLst/>
          </a:prstGeom>
          <a:solidFill>
            <a:srgbClr val="4D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1-label">
            <a:extLst>
              <a:ext uri="{FF2B5EF4-FFF2-40B4-BE49-F238E27FC236}">
                <a16:creationId xmlns:a16="http://schemas.microsoft.com/office/drawing/2014/main" id="{1792A3ED-0EBC-4FFE-A26E-BB6F64E3B590}"/>
              </a:ext>
            </a:extLst>
          </p:cNvPr>
          <p:cNvSpPr>
            <a:spLocks noGrp="1"/>
          </p:cNvSpPr>
          <p:nvPr/>
        </p:nvSpPr>
        <p:spPr>
          <a:xfrm>
            <a:off x="1104900" y="40957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PACK ECOSYSTEM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289217-AE5E-4ED8-A6D9-B3A953B711D1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106805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dirty="0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Packs turn domain expertise into installable execution capability.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6A7F7D-90A2-4A9C-9E9C-C282B7B452D2}"/>
              </a:ext>
            </a:extLst>
          </p:cNvPr>
          <p:cNvSpPr>
            <a:spLocks noGrp="1"/>
          </p:cNvSpPr>
          <p:nvPr/>
        </p:nvSpPr>
        <p:spPr>
          <a:xfrm>
            <a:off x="5143500" y="2905125"/>
            <a:ext cx="1905000" cy="1047750"/>
          </a:xfrm>
          <a:prstGeom prst="rect">
            <a:avLst/>
          </a:prstGeom>
          <a:solidFill>
            <a:srgbClr val="122034"/>
          </a:solidFill>
          <a:ln w="19050">
            <a:solidFill>
              <a:srgbClr val="4DD8F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AC6800-AE91-4E17-AC68-FF9FFDECDAED}"/>
              </a:ext>
            </a:extLst>
          </p:cNvPr>
          <p:cNvSpPr>
            <a:spLocks noGrp="1"/>
          </p:cNvSpPr>
          <p:nvPr/>
        </p:nvSpPr>
        <p:spPr>
          <a:xfrm>
            <a:off x="5476875" y="3143250"/>
            <a:ext cx="1238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Lados</a:t>
            </a:r>
          </a:p>
          <a:p>
            <a:pPr algn="ctr">
              <a:defRPr sz="22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Engine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B59336-DDCA-4C03-8727-8F2DAC0FCDF2}"/>
              </a:ext>
            </a:extLst>
          </p:cNvPr>
          <p:cNvSpPr>
            <a:spLocks noGrp="1"/>
          </p:cNvSpPr>
          <p:nvPr/>
        </p:nvSpPr>
        <p:spPr>
          <a:xfrm>
            <a:off x="2381250" y="1952625"/>
            <a:ext cx="1809750" cy="609600"/>
          </a:xfrm>
          <a:prstGeom prst="rect">
            <a:avLst/>
          </a:prstGeom>
          <a:solidFill>
            <a:srgbClr val="0F1727"/>
          </a:solidFill>
          <a:ln w="9525">
            <a:solidFill>
              <a:srgbClr val="4DD8F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10248B-FCE8-44EE-A541-3B0F7A9A1DF0}"/>
              </a:ext>
            </a:extLst>
          </p:cNvPr>
          <p:cNvSpPr>
            <a:spLocks noGrp="1"/>
          </p:cNvSpPr>
          <p:nvPr/>
        </p:nvSpPr>
        <p:spPr>
          <a:xfrm>
            <a:off x="2514600" y="2114550"/>
            <a:ext cx="154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Workflow foundation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449BE1-A2BC-4588-972F-F93A686D3CFE}"/>
              </a:ext>
            </a:extLst>
          </p:cNvPr>
          <p:cNvSpPr>
            <a:spLocks noGrp="1"/>
          </p:cNvSpPr>
          <p:nvPr/>
        </p:nvSpPr>
        <p:spPr>
          <a:xfrm>
            <a:off x="4191000" y="2247900"/>
            <a:ext cx="1047750" cy="19050"/>
          </a:xfrm>
          <a:prstGeom prst="rect">
            <a:avLst/>
          </a:prstGeom>
          <a:solidFill>
            <a:srgbClr val="4D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63321C-23F3-4377-B2ED-1410459F8243}"/>
              </a:ext>
            </a:extLst>
          </p:cNvPr>
          <p:cNvSpPr>
            <a:spLocks noGrp="1"/>
          </p:cNvSpPr>
          <p:nvPr/>
        </p:nvSpPr>
        <p:spPr>
          <a:xfrm>
            <a:off x="4953000" y="1762125"/>
            <a:ext cx="1809750" cy="609600"/>
          </a:xfrm>
          <a:prstGeom prst="rect">
            <a:avLst/>
          </a:prstGeom>
          <a:solidFill>
            <a:srgbClr val="0F1727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1EE39F-36AF-4525-B353-0C42C6F1754D}"/>
              </a:ext>
            </a:extLst>
          </p:cNvPr>
          <p:cNvSpPr>
            <a:spLocks noGrp="1"/>
          </p:cNvSpPr>
          <p:nvPr/>
        </p:nvSpPr>
        <p:spPr>
          <a:xfrm>
            <a:off x="5086350" y="1924050"/>
            <a:ext cx="154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Human work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12A832-58F4-4B0D-9C39-62FABCEB98CE}"/>
              </a:ext>
            </a:extLst>
          </p:cNvPr>
          <p:cNvSpPr>
            <a:spLocks noGrp="1"/>
          </p:cNvSpPr>
          <p:nvPr/>
        </p:nvSpPr>
        <p:spPr>
          <a:xfrm>
            <a:off x="5857875" y="2371725"/>
            <a:ext cx="19050" cy="533400"/>
          </a:xfrm>
          <a:prstGeom prst="rect">
            <a:avLst/>
          </a:prstGeom>
          <a:solidFill>
            <a:srgbClr val="6EE7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07472F-42CB-4AF3-B637-D0427C810D03}"/>
              </a:ext>
            </a:extLst>
          </p:cNvPr>
          <p:cNvSpPr>
            <a:spLocks noGrp="1"/>
          </p:cNvSpPr>
          <p:nvPr/>
        </p:nvSpPr>
        <p:spPr>
          <a:xfrm>
            <a:off x="7524750" y="1952625"/>
            <a:ext cx="1809750" cy="609600"/>
          </a:xfrm>
          <a:prstGeom prst="rect">
            <a:avLst/>
          </a:prstGeom>
          <a:solidFill>
            <a:srgbClr val="0F1727"/>
          </a:solidFill>
          <a:ln w="9525">
            <a:solidFill>
              <a:srgbClr val="BFA7F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C8D9CC-04AF-4F94-A878-501A28F7F61A}"/>
              </a:ext>
            </a:extLst>
          </p:cNvPr>
          <p:cNvSpPr>
            <a:spLocks noGrp="1"/>
          </p:cNvSpPr>
          <p:nvPr/>
        </p:nvSpPr>
        <p:spPr>
          <a:xfrm>
            <a:off x="7658100" y="2114550"/>
            <a:ext cx="154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Document intelligence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8538DC-5B47-4A8F-88F7-A0B22CAD1E2E}"/>
              </a:ext>
            </a:extLst>
          </p:cNvPr>
          <p:cNvSpPr>
            <a:spLocks noGrp="1"/>
          </p:cNvSpPr>
          <p:nvPr/>
        </p:nvSpPr>
        <p:spPr>
          <a:xfrm>
            <a:off x="7048500" y="2247900"/>
            <a:ext cx="476250" cy="19050"/>
          </a:xfrm>
          <a:prstGeom prst="rect">
            <a:avLst/>
          </a:prstGeom>
          <a:solidFill>
            <a:srgbClr val="BFA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C0524D-C9C7-442A-801D-8D7C9683D73D}"/>
              </a:ext>
            </a:extLst>
          </p:cNvPr>
          <p:cNvSpPr>
            <a:spLocks noGrp="1"/>
          </p:cNvSpPr>
          <p:nvPr/>
        </p:nvSpPr>
        <p:spPr>
          <a:xfrm>
            <a:off x="2000250" y="3619500"/>
            <a:ext cx="1809750" cy="609600"/>
          </a:xfrm>
          <a:prstGeom prst="rect">
            <a:avLst/>
          </a:prstGeom>
          <a:solidFill>
            <a:srgbClr val="0F1727"/>
          </a:solidFill>
          <a:ln w="9525">
            <a:solidFill>
              <a:srgbClr val="FFB86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8EDCB5-4D2B-4DC5-AFB8-822A286D5E48}"/>
              </a:ext>
            </a:extLst>
          </p:cNvPr>
          <p:cNvSpPr>
            <a:spLocks noGrp="1"/>
          </p:cNvSpPr>
          <p:nvPr/>
        </p:nvSpPr>
        <p:spPr>
          <a:xfrm>
            <a:off x="2133600" y="3781425"/>
            <a:ext cx="154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Procurement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E2BFDC-A521-4F0C-8B03-4BA76CAAEA7E}"/>
              </a:ext>
            </a:extLst>
          </p:cNvPr>
          <p:cNvSpPr>
            <a:spLocks noGrp="1"/>
          </p:cNvSpPr>
          <p:nvPr/>
        </p:nvSpPr>
        <p:spPr>
          <a:xfrm>
            <a:off x="3810000" y="3914775"/>
            <a:ext cx="1047750" cy="19050"/>
          </a:xfrm>
          <a:prstGeom prst="rect">
            <a:avLst/>
          </a:prstGeom>
          <a:solidFill>
            <a:srgbClr val="FFB8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C3DACC-7A06-4739-AF0F-CC3AA0B40B85}"/>
              </a:ext>
            </a:extLst>
          </p:cNvPr>
          <p:cNvSpPr>
            <a:spLocks noGrp="1"/>
          </p:cNvSpPr>
          <p:nvPr/>
        </p:nvSpPr>
        <p:spPr>
          <a:xfrm>
            <a:off x="4762500" y="4714875"/>
            <a:ext cx="1809750" cy="609600"/>
          </a:xfrm>
          <a:prstGeom prst="rect">
            <a:avLst/>
          </a:prstGeom>
          <a:solidFill>
            <a:srgbClr val="0F1727"/>
          </a:solidFill>
          <a:ln w="9525">
            <a:solidFill>
              <a:srgbClr val="FFB86B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BC6880-C938-4731-A638-33C63D9CF72A}"/>
              </a:ext>
            </a:extLst>
          </p:cNvPr>
          <p:cNvSpPr>
            <a:spLocks noGrp="1"/>
          </p:cNvSpPr>
          <p:nvPr/>
        </p:nvSpPr>
        <p:spPr>
          <a:xfrm>
            <a:off x="4895850" y="4876800"/>
            <a:ext cx="154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QS commercial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7CFDB5-111D-4C11-BCE3-6EB398DF7D4E}"/>
              </a:ext>
            </a:extLst>
          </p:cNvPr>
          <p:cNvSpPr>
            <a:spLocks noGrp="1"/>
          </p:cNvSpPr>
          <p:nvPr/>
        </p:nvSpPr>
        <p:spPr>
          <a:xfrm>
            <a:off x="5667375" y="5324475"/>
            <a:ext cx="19050" cy="533400"/>
          </a:xfrm>
          <a:prstGeom prst="rect">
            <a:avLst/>
          </a:prstGeom>
          <a:solidFill>
            <a:srgbClr val="FFB8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34DEBB-4DDB-4653-9975-90D3BFFB1C4D}"/>
              </a:ext>
            </a:extLst>
          </p:cNvPr>
          <p:cNvSpPr>
            <a:spLocks noGrp="1"/>
          </p:cNvSpPr>
          <p:nvPr/>
        </p:nvSpPr>
        <p:spPr>
          <a:xfrm>
            <a:off x="7667625" y="3619500"/>
            <a:ext cx="1809750" cy="609600"/>
          </a:xfrm>
          <a:prstGeom prst="rect">
            <a:avLst/>
          </a:prstGeom>
          <a:solidFill>
            <a:srgbClr val="0F1727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5BF44-9C54-4EE9-9E95-42ACCB1F8532}"/>
              </a:ext>
            </a:extLst>
          </p:cNvPr>
          <p:cNvSpPr>
            <a:spLocks noGrp="1"/>
          </p:cNvSpPr>
          <p:nvPr/>
        </p:nvSpPr>
        <p:spPr>
          <a:xfrm>
            <a:off x="7800975" y="3781425"/>
            <a:ext cx="154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Asset &amp; fleet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370E16-0D15-497F-BD28-8B1FEE8C6743}"/>
              </a:ext>
            </a:extLst>
          </p:cNvPr>
          <p:cNvSpPr>
            <a:spLocks noGrp="1"/>
          </p:cNvSpPr>
          <p:nvPr/>
        </p:nvSpPr>
        <p:spPr>
          <a:xfrm>
            <a:off x="7048500" y="3914775"/>
            <a:ext cx="619125" cy="19050"/>
          </a:xfrm>
          <a:prstGeom prst="rect">
            <a:avLst/>
          </a:prstGeom>
          <a:solidFill>
            <a:srgbClr val="6EE7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98B7CAF-55EA-4C86-AD84-7D02A7C10B10}"/>
              </a:ext>
            </a:extLst>
          </p:cNvPr>
          <p:cNvSpPr>
            <a:spLocks noGrp="1"/>
          </p:cNvSpPr>
          <p:nvPr/>
        </p:nvSpPr>
        <p:spPr>
          <a:xfrm>
            <a:off x="1333500" y="5715000"/>
            <a:ext cx="952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Capability packs are not just palette items. They define manifests, nodes, ports, events, config fields, and runtime executors that the engine can govern.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3614918-D967-430D-A708-213755684F08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723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0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9"/>
                </a:solidFill>
                <a:latin typeface="Aptos"/>
                <a:ea typeface="Aptos"/>
                <a:cs typeface="Aptos"/>
              </a:rPr>
              <a:t>Source: project docs, Graphify findings, and inspected repo structure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6A154F-8AC5-4D49-8D0A-C7B79C4D2B32}"/>
              </a:ext>
            </a:extLst>
          </p:cNvPr>
          <p:cNvSpPr>
            <a:spLocks noGrp="1"/>
          </p:cNvSpPr>
          <p:nvPr/>
        </p:nvSpPr>
        <p:spPr>
          <a:xfrm>
            <a:off x="11296650" y="63817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17125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EEE5E51D-2F9B-40A4-98A8-DB3E23B7C8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41AB47-E666-4884-BF90-08AA09767B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marker">
            <a:extLst>
              <a:ext uri="{FF2B5EF4-FFF2-40B4-BE49-F238E27FC236}">
                <a16:creationId xmlns:a16="http://schemas.microsoft.com/office/drawing/2014/main" id="{2C35B032-D02F-433A-8101-BA9F5183A43E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400050" cy="28575"/>
          </a:xfrm>
          <a:prstGeom prst="rect">
            <a:avLst/>
          </a:prstGeom>
          <a:solidFill>
            <a:srgbClr val="4D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1-label">
            <a:extLst>
              <a:ext uri="{FF2B5EF4-FFF2-40B4-BE49-F238E27FC236}">
                <a16:creationId xmlns:a16="http://schemas.microsoft.com/office/drawing/2014/main" id="{3349FFEE-4472-485E-9CF5-6AD00163CC9B}"/>
              </a:ext>
            </a:extLst>
          </p:cNvPr>
          <p:cNvSpPr>
            <a:spLocks noGrp="1"/>
          </p:cNvSpPr>
          <p:nvPr/>
        </p:nvSpPr>
        <p:spPr>
          <a:xfrm>
            <a:off x="1104900" y="40957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EXECUTION PATH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B7FFBA-00A8-4F2F-81F1-1C9411358FF1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7429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Every run follows one auditable path from trigger to outcome.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1A2EA0-8691-4243-9229-1AD1C003A842}"/>
              </a:ext>
            </a:extLst>
          </p:cNvPr>
          <p:cNvSpPr>
            <a:spLocks noGrp="1"/>
          </p:cNvSpPr>
          <p:nvPr/>
        </p:nvSpPr>
        <p:spPr>
          <a:xfrm>
            <a:off x="666750" y="2552700"/>
            <a:ext cx="1428750" cy="1428750"/>
          </a:xfrm>
          <a:prstGeom prst="rect">
            <a:avLst/>
          </a:prstGeom>
          <a:solidFill>
            <a:srgbClr val="101827"/>
          </a:solidFill>
          <a:ln w="9525">
            <a:solidFill>
              <a:srgbClr val="BFA7F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8CD933-F9B0-4AAA-9573-FF277D0DEE84}"/>
              </a:ext>
            </a:extLst>
          </p:cNvPr>
          <p:cNvSpPr>
            <a:spLocks noGrp="1"/>
          </p:cNvSpPr>
          <p:nvPr/>
        </p:nvSpPr>
        <p:spPr>
          <a:xfrm>
            <a:off x="819150" y="28194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BFA7F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BFA7F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A32577-1D3B-4B55-8561-151412968972}"/>
              </a:ext>
            </a:extLst>
          </p:cNvPr>
          <p:cNvSpPr>
            <a:spLocks noGrp="1"/>
          </p:cNvSpPr>
          <p:nvPr/>
        </p:nvSpPr>
        <p:spPr>
          <a:xfrm>
            <a:off x="819150" y="3114675"/>
            <a:ext cx="11239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Trigger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0A22BD-A1EA-41C2-A5B0-0CD707E27940}"/>
              </a:ext>
            </a:extLst>
          </p:cNvPr>
          <p:cNvSpPr>
            <a:spLocks noGrp="1"/>
          </p:cNvSpPr>
          <p:nvPr/>
        </p:nvSpPr>
        <p:spPr>
          <a:xfrm>
            <a:off x="819150" y="3476625"/>
            <a:ext cx="1123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manual, schedule, webhook, event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A8DF1C-5767-4632-A31A-C5D39C37EBB8}"/>
              </a:ext>
            </a:extLst>
          </p:cNvPr>
          <p:cNvSpPr>
            <a:spLocks noGrp="1"/>
          </p:cNvSpPr>
          <p:nvPr/>
        </p:nvSpPr>
        <p:spPr>
          <a:xfrm>
            <a:off x="2095500" y="3219450"/>
            <a:ext cx="428625" cy="28575"/>
          </a:xfrm>
          <a:prstGeom prst="rect">
            <a:avLst/>
          </a:prstGeom>
          <a:solidFill>
            <a:srgbClr val="2B34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1D750B-0300-4E92-BF9F-2FF2C3D8B394}"/>
              </a:ext>
            </a:extLst>
          </p:cNvPr>
          <p:cNvSpPr>
            <a:spLocks noGrp="1"/>
          </p:cNvSpPr>
          <p:nvPr/>
        </p:nvSpPr>
        <p:spPr>
          <a:xfrm>
            <a:off x="2524125" y="2552700"/>
            <a:ext cx="1428750" cy="1428750"/>
          </a:xfrm>
          <a:prstGeom prst="rect">
            <a:avLst/>
          </a:prstGeom>
          <a:solidFill>
            <a:srgbClr val="101827"/>
          </a:solidFill>
          <a:ln w="9525">
            <a:solidFill>
              <a:srgbClr val="4DD8F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153E36-66E5-4047-BD15-9D991F983236}"/>
              </a:ext>
            </a:extLst>
          </p:cNvPr>
          <p:cNvSpPr>
            <a:spLocks noGrp="1"/>
          </p:cNvSpPr>
          <p:nvPr/>
        </p:nvSpPr>
        <p:spPr>
          <a:xfrm>
            <a:off x="2676525" y="28194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4DD8F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4DD8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7C564A-D14E-4497-A37F-4FD59925582B}"/>
              </a:ext>
            </a:extLst>
          </p:cNvPr>
          <p:cNvSpPr>
            <a:spLocks noGrp="1"/>
          </p:cNvSpPr>
          <p:nvPr/>
        </p:nvSpPr>
        <p:spPr>
          <a:xfrm>
            <a:off x="2676525" y="3114675"/>
            <a:ext cx="11239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Resolve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BE90DF-CC0D-485D-BD3C-9A59D93A21A4}"/>
              </a:ext>
            </a:extLst>
          </p:cNvPr>
          <p:cNvSpPr>
            <a:spLocks noGrp="1"/>
          </p:cNvSpPr>
          <p:nvPr/>
        </p:nvSpPr>
        <p:spPr>
          <a:xfrm>
            <a:off x="2676525" y="3476625"/>
            <a:ext cx="1123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bindings, inputs, pack executors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1BBFC8-B1F1-4F5B-92B1-0D97E300A0D8}"/>
              </a:ext>
            </a:extLst>
          </p:cNvPr>
          <p:cNvSpPr>
            <a:spLocks noGrp="1"/>
          </p:cNvSpPr>
          <p:nvPr/>
        </p:nvSpPr>
        <p:spPr>
          <a:xfrm>
            <a:off x="3952875" y="3219450"/>
            <a:ext cx="428625" cy="28575"/>
          </a:xfrm>
          <a:prstGeom prst="rect">
            <a:avLst/>
          </a:prstGeom>
          <a:solidFill>
            <a:srgbClr val="2B34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681B8D-A076-48AD-BA36-B8130E531B6B}"/>
              </a:ext>
            </a:extLst>
          </p:cNvPr>
          <p:cNvSpPr>
            <a:spLocks noGrp="1"/>
          </p:cNvSpPr>
          <p:nvPr/>
        </p:nvSpPr>
        <p:spPr>
          <a:xfrm>
            <a:off x="4381500" y="2552700"/>
            <a:ext cx="1428750" cy="1428750"/>
          </a:xfrm>
          <a:prstGeom prst="rect">
            <a:avLst/>
          </a:prstGeom>
          <a:solidFill>
            <a:srgbClr val="101827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F34D6F-D996-4BBA-A3AE-CC946E146C60}"/>
              </a:ext>
            </a:extLst>
          </p:cNvPr>
          <p:cNvSpPr>
            <a:spLocks noGrp="1"/>
          </p:cNvSpPr>
          <p:nvPr/>
        </p:nvSpPr>
        <p:spPr>
          <a:xfrm>
            <a:off x="4533900" y="28194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EE7B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6EE7B7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DD3204-DACD-46EC-92F2-D62FD0832F42}"/>
              </a:ext>
            </a:extLst>
          </p:cNvPr>
          <p:cNvSpPr>
            <a:spLocks noGrp="1"/>
          </p:cNvSpPr>
          <p:nvPr/>
        </p:nvSpPr>
        <p:spPr>
          <a:xfrm>
            <a:off x="4533900" y="3114675"/>
            <a:ext cx="11239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Execute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B3DBE5-B67C-4634-9643-F971F5422FE9}"/>
              </a:ext>
            </a:extLst>
          </p:cNvPr>
          <p:cNvSpPr>
            <a:spLocks noGrp="1"/>
          </p:cNvSpPr>
          <p:nvPr/>
        </p:nvSpPr>
        <p:spPr>
          <a:xfrm>
            <a:off x="4533900" y="3476625"/>
            <a:ext cx="1123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port-aware node runner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8FB121-0149-4710-B250-8D930516F3F6}"/>
              </a:ext>
            </a:extLst>
          </p:cNvPr>
          <p:cNvSpPr>
            <a:spLocks noGrp="1"/>
          </p:cNvSpPr>
          <p:nvPr/>
        </p:nvSpPr>
        <p:spPr>
          <a:xfrm>
            <a:off x="5810250" y="3219450"/>
            <a:ext cx="428625" cy="28575"/>
          </a:xfrm>
          <a:prstGeom prst="rect">
            <a:avLst/>
          </a:prstGeom>
          <a:solidFill>
            <a:srgbClr val="2B34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E20038-7463-4933-9E7C-4649B0D2BF2E}"/>
              </a:ext>
            </a:extLst>
          </p:cNvPr>
          <p:cNvSpPr>
            <a:spLocks noGrp="1"/>
          </p:cNvSpPr>
          <p:nvPr/>
        </p:nvSpPr>
        <p:spPr>
          <a:xfrm>
            <a:off x="6238875" y="2552700"/>
            <a:ext cx="1428750" cy="1428750"/>
          </a:xfrm>
          <a:prstGeom prst="rect">
            <a:avLst/>
          </a:prstGeom>
          <a:solidFill>
            <a:srgbClr val="101827"/>
          </a:solidFill>
          <a:ln w="9525">
            <a:solidFill>
              <a:srgbClr val="FFB86B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B1B95A-26A0-480B-8904-1B38FB2A1EA2}"/>
              </a:ext>
            </a:extLst>
          </p:cNvPr>
          <p:cNvSpPr>
            <a:spLocks noGrp="1"/>
          </p:cNvSpPr>
          <p:nvPr/>
        </p:nvSpPr>
        <p:spPr>
          <a:xfrm>
            <a:off x="6391275" y="28194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B86B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B86B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230D31B-25B0-4615-B0F4-3470BCF1EFD1}"/>
              </a:ext>
            </a:extLst>
          </p:cNvPr>
          <p:cNvSpPr>
            <a:spLocks noGrp="1"/>
          </p:cNvSpPr>
          <p:nvPr/>
        </p:nvSpPr>
        <p:spPr>
          <a:xfrm>
            <a:off x="6391275" y="3114675"/>
            <a:ext cx="11239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Pause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0F02D2-1710-4DEB-99E8-A1FB6D56B3A1}"/>
              </a:ext>
            </a:extLst>
          </p:cNvPr>
          <p:cNvSpPr>
            <a:spLocks noGrp="1"/>
          </p:cNvSpPr>
          <p:nvPr/>
        </p:nvSpPr>
        <p:spPr>
          <a:xfrm>
            <a:off x="6391275" y="3476625"/>
            <a:ext cx="1123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approval or request_input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244CFB-EDBB-4DE4-A9BE-F859916E7D6E}"/>
              </a:ext>
            </a:extLst>
          </p:cNvPr>
          <p:cNvSpPr>
            <a:spLocks noGrp="1"/>
          </p:cNvSpPr>
          <p:nvPr/>
        </p:nvSpPr>
        <p:spPr>
          <a:xfrm>
            <a:off x="7667625" y="3219450"/>
            <a:ext cx="428625" cy="28575"/>
          </a:xfrm>
          <a:prstGeom prst="rect">
            <a:avLst/>
          </a:prstGeom>
          <a:solidFill>
            <a:srgbClr val="2B34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29350D2-AF02-4F9F-B56D-A955C1761191}"/>
              </a:ext>
            </a:extLst>
          </p:cNvPr>
          <p:cNvSpPr>
            <a:spLocks noGrp="1"/>
          </p:cNvSpPr>
          <p:nvPr/>
        </p:nvSpPr>
        <p:spPr>
          <a:xfrm>
            <a:off x="8096250" y="2552700"/>
            <a:ext cx="1428750" cy="1428750"/>
          </a:xfrm>
          <a:prstGeom prst="rect">
            <a:avLst/>
          </a:prstGeom>
          <a:solidFill>
            <a:srgbClr val="101827"/>
          </a:solidFill>
          <a:ln w="9525">
            <a:solidFill>
              <a:srgbClr val="4DD8FF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0ADF52-7877-4A9C-B695-24B4C7909CC5}"/>
              </a:ext>
            </a:extLst>
          </p:cNvPr>
          <p:cNvSpPr>
            <a:spLocks noGrp="1"/>
          </p:cNvSpPr>
          <p:nvPr/>
        </p:nvSpPr>
        <p:spPr>
          <a:xfrm>
            <a:off x="8248650" y="28194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4DD8F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4DD8FF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252F479-68C8-4DBA-B0D6-08BF0BABD8DE}"/>
              </a:ext>
            </a:extLst>
          </p:cNvPr>
          <p:cNvSpPr>
            <a:spLocks noGrp="1"/>
          </p:cNvSpPr>
          <p:nvPr/>
        </p:nvSpPr>
        <p:spPr>
          <a:xfrm>
            <a:off x="8248650" y="3114675"/>
            <a:ext cx="11239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Record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9D05315-4387-473B-B5D0-FAE303AA0CD9}"/>
              </a:ext>
            </a:extLst>
          </p:cNvPr>
          <p:cNvSpPr>
            <a:spLocks noGrp="1"/>
          </p:cNvSpPr>
          <p:nvPr/>
        </p:nvSpPr>
        <p:spPr>
          <a:xfrm>
            <a:off x="8248650" y="3476625"/>
            <a:ext cx="1123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logs, events, audit, rollups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11C2CDD-5C69-4142-B7DF-A33167B836CD}"/>
              </a:ext>
            </a:extLst>
          </p:cNvPr>
          <p:cNvSpPr>
            <a:spLocks noGrp="1"/>
          </p:cNvSpPr>
          <p:nvPr/>
        </p:nvSpPr>
        <p:spPr>
          <a:xfrm>
            <a:off x="9525000" y="3219450"/>
            <a:ext cx="428625" cy="28575"/>
          </a:xfrm>
          <a:prstGeom prst="rect">
            <a:avLst/>
          </a:prstGeom>
          <a:solidFill>
            <a:srgbClr val="2B34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DF128F1-A84E-4703-95F7-3595E4E6F47D}"/>
              </a:ext>
            </a:extLst>
          </p:cNvPr>
          <p:cNvSpPr>
            <a:spLocks noGrp="1"/>
          </p:cNvSpPr>
          <p:nvPr/>
        </p:nvSpPr>
        <p:spPr>
          <a:xfrm>
            <a:off x="9953625" y="2552700"/>
            <a:ext cx="1428750" cy="1428750"/>
          </a:xfrm>
          <a:prstGeom prst="rect">
            <a:avLst/>
          </a:prstGeom>
          <a:solidFill>
            <a:srgbClr val="101827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66B223A-E613-4542-9033-AAE02FC19B11}"/>
              </a:ext>
            </a:extLst>
          </p:cNvPr>
          <p:cNvSpPr>
            <a:spLocks noGrp="1"/>
          </p:cNvSpPr>
          <p:nvPr/>
        </p:nvSpPr>
        <p:spPr>
          <a:xfrm>
            <a:off x="10106025" y="28194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6EE7B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6EE7B7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DB44DC-4B2F-4CA6-8B4F-1CA7DB246118}"/>
              </a:ext>
            </a:extLst>
          </p:cNvPr>
          <p:cNvSpPr>
            <a:spLocks noGrp="1"/>
          </p:cNvSpPr>
          <p:nvPr/>
        </p:nvSpPr>
        <p:spPr>
          <a:xfrm>
            <a:off x="10106025" y="3114675"/>
            <a:ext cx="112395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Outcome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B54C90-BF30-48CE-A24E-A394765F0FBB}"/>
              </a:ext>
            </a:extLst>
          </p:cNvPr>
          <p:cNvSpPr>
            <a:spLocks noGrp="1"/>
          </p:cNvSpPr>
          <p:nvPr/>
        </p:nvSpPr>
        <p:spPr>
          <a:xfrm>
            <a:off x="10106025" y="3476625"/>
            <a:ext cx="1123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resource update or artifact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E0DCE0B-D267-4522-AD75-B7D855324C8B}"/>
              </a:ext>
            </a:extLst>
          </p:cNvPr>
          <p:cNvSpPr>
            <a:spLocks noGrp="1"/>
          </p:cNvSpPr>
          <p:nvPr/>
        </p:nvSpPr>
        <p:spPr>
          <a:xfrm>
            <a:off x="2095500" y="4476750"/>
            <a:ext cx="8001000" cy="723900"/>
          </a:xfrm>
          <a:prstGeom prst="rect">
            <a:avLst/>
          </a:prstGeom>
          <a:solidFill>
            <a:srgbClr val="0E1421"/>
          </a:solidFill>
          <a:ln w="9525">
            <a:solidFill>
              <a:srgbClr val="2B3448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1A0E5BE-7EAE-452C-9928-28D4CEA2F47B}"/>
              </a:ext>
            </a:extLst>
          </p:cNvPr>
          <p:cNvSpPr>
            <a:spLocks noGrp="1"/>
          </p:cNvSpPr>
          <p:nvPr/>
        </p:nvSpPr>
        <p:spPr>
          <a:xfrm>
            <a:off x="2381250" y="4695825"/>
            <a:ext cx="742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queue can fall back to in-process execution, while the watchdog, analytics, and retention services keep operational state visible after the run starts.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E731B13-1164-4DF1-BD97-565FE1101ADC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723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0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9"/>
                </a:solidFill>
                <a:latin typeface="Aptos"/>
                <a:ea typeface="Aptos"/>
                <a:cs typeface="Aptos"/>
              </a:rPr>
              <a:t>Source: project docs, Graphify findings, and inspected repo structure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8819EC6-7018-40ED-A13E-2D6AFEE52B9A}"/>
              </a:ext>
            </a:extLst>
          </p:cNvPr>
          <p:cNvSpPr>
            <a:spLocks noGrp="1"/>
          </p:cNvSpPr>
          <p:nvPr/>
        </p:nvSpPr>
        <p:spPr>
          <a:xfrm>
            <a:off x="11296650" y="63817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49690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7A63F97-9116-429D-9F5E-2334F803C1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20457D-7B71-4018-B5A5-C99224E3EE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marker">
            <a:extLst>
              <a:ext uri="{FF2B5EF4-FFF2-40B4-BE49-F238E27FC236}">
                <a16:creationId xmlns:a16="http://schemas.microsoft.com/office/drawing/2014/main" id="{18D47DF7-484C-404F-A894-45D172CC974C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400050" cy="28575"/>
          </a:xfrm>
          <a:prstGeom prst="rect">
            <a:avLst/>
          </a:prstGeom>
          <a:solidFill>
            <a:srgbClr val="4D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1-label">
            <a:extLst>
              <a:ext uri="{FF2B5EF4-FFF2-40B4-BE49-F238E27FC236}">
                <a16:creationId xmlns:a16="http://schemas.microsoft.com/office/drawing/2014/main" id="{58DA7575-D746-4596-8E39-95D5F94A1C82}"/>
              </a:ext>
            </a:extLst>
          </p:cNvPr>
          <p:cNvSpPr>
            <a:spLocks noGrp="1"/>
          </p:cNvSpPr>
          <p:nvPr/>
        </p:nvSpPr>
        <p:spPr>
          <a:xfrm>
            <a:off x="1104900" y="40957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HUMAN GOVERNANCE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0042E5-C7C1-436E-A48D-D0EFBF6C4BB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72390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Human input is a workflow primitive, not a side channel.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0E7EE5-4D6C-41CD-99C4-84A662CECDCF}"/>
              </a:ext>
            </a:extLst>
          </p:cNvPr>
          <p:cNvSpPr>
            <a:spLocks noGrp="1"/>
          </p:cNvSpPr>
          <p:nvPr/>
        </p:nvSpPr>
        <p:spPr>
          <a:xfrm>
            <a:off x="904875" y="2333625"/>
            <a:ext cx="2476500" cy="1143000"/>
          </a:xfrm>
          <a:prstGeom prst="rect">
            <a:avLst/>
          </a:prstGeom>
          <a:solidFill>
            <a:srgbClr val="111827"/>
          </a:solidFill>
          <a:ln w="9525">
            <a:solidFill>
              <a:srgbClr val="FFB86B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6C43BD-5286-4A54-8841-1A2A4BE2DE20}"/>
              </a:ext>
            </a:extLst>
          </p:cNvPr>
          <p:cNvSpPr>
            <a:spLocks noGrp="1"/>
          </p:cNvSpPr>
          <p:nvPr/>
        </p:nvSpPr>
        <p:spPr>
          <a:xfrm>
            <a:off x="904875" y="2333625"/>
            <a:ext cx="47625" cy="1143000"/>
          </a:xfrm>
          <a:prstGeom prst="rect">
            <a:avLst/>
          </a:prstGeom>
          <a:solidFill>
            <a:srgbClr val="FFB8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3E189D-EA08-4E1D-9AFD-F44B1ECF281B}"/>
              </a:ext>
            </a:extLst>
          </p:cNvPr>
          <p:cNvSpPr>
            <a:spLocks noGrp="1"/>
          </p:cNvSpPr>
          <p:nvPr/>
        </p:nvSpPr>
        <p:spPr>
          <a:xfrm>
            <a:off x="1095375" y="2476500"/>
            <a:ext cx="2133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request_approval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D31436-F438-4249-A02C-B12B709BB9EC}"/>
              </a:ext>
            </a:extLst>
          </p:cNvPr>
          <p:cNvSpPr>
            <a:spLocks noGrp="1"/>
          </p:cNvSpPr>
          <p:nvPr/>
        </p:nvSpPr>
        <p:spPr>
          <a:xfrm>
            <a:off x="1095375" y="2752725"/>
            <a:ext cx="21336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 human decision gates commercial facts. AI remains advisory.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F70D11-75FC-4E9E-BCF0-9F28B883DBC2}"/>
              </a:ext>
            </a:extLst>
          </p:cNvPr>
          <p:cNvSpPr>
            <a:spLocks noGrp="1"/>
          </p:cNvSpPr>
          <p:nvPr/>
        </p:nvSpPr>
        <p:spPr>
          <a:xfrm>
            <a:off x="4857750" y="2333625"/>
            <a:ext cx="2476500" cy="1143000"/>
          </a:xfrm>
          <a:prstGeom prst="rect">
            <a:avLst/>
          </a:prstGeom>
          <a:solidFill>
            <a:srgbClr val="111827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4F57AD-6068-4A41-B6BE-90B48992AFB8}"/>
              </a:ext>
            </a:extLst>
          </p:cNvPr>
          <p:cNvSpPr>
            <a:spLocks noGrp="1"/>
          </p:cNvSpPr>
          <p:nvPr/>
        </p:nvSpPr>
        <p:spPr>
          <a:xfrm>
            <a:off x="4857750" y="2333625"/>
            <a:ext cx="47625" cy="1143000"/>
          </a:xfrm>
          <a:prstGeom prst="rect">
            <a:avLst/>
          </a:prstGeom>
          <a:solidFill>
            <a:srgbClr val="6EE7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9D3A75-E167-453F-8E98-5F8E7FD89D82}"/>
              </a:ext>
            </a:extLst>
          </p:cNvPr>
          <p:cNvSpPr>
            <a:spLocks noGrp="1"/>
          </p:cNvSpPr>
          <p:nvPr/>
        </p:nvSpPr>
        <p:spPr>
          <a:xfrm>
            <a:off x="5048250" y="2476500"/>
            <a:ext cx="2133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request_input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32FA61-5D8D-4271-831D-A10D882835F3}"/>
              </a:ext>
            </a:extLst>
          </p:cNvPr>
          <p:cNvSpPr>
            <a:spLocks noGrp="1"/>
          </p:cNvSpPr>
          <p:nvPr/>
        </p:nvSpPr>
        <p:spPr>
          <a:xfrm>
            <a:off x="5048250" y="2752725"/>
            <a:ext cx="21336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Structured data can be inserted or corrected mid-run with an auditable task.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21C704-0742-4E35-A958-B3C95A9B0EC7}"/>
              </a:ext>
            </a:extLst>
          </p:cNvPr>
          <p:cNvSpPr>
            <a:spLocks noGrp="1"/>
          </p:cNvSpPr>
          <p:nvPr/>
        </p:nvSpPr>
        <p:spPr>
          <a:xfrm>
            <a:off x="8810625" y="2333625"/>
            <a:ext cx="2476500" cy="1143000"/>
          </a:xfrm>
          <a:prstGeom prst="rect">
            <a:avLst/>
          </a:prstGeom>
          <a:solidFill>
            <a:srgbClr val="111827"/>
          </a:solidFill>
          <a:ln w="9525">
            <a:solidFill>
              <a:srgbClr val="4DD8F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F8B984-EFAB-4D43-A25F-F33420EBD285}"/>
              </a:ext>
            </a:extLst>
          </p:cNvPr>
          <p:cNvSpPr>
            <a:spLocks noGrp="1"/>
          </p:cNvSpPr>
          <p:nvPr/>
        </p:nvSpPr>
        <p:spPr>
          <a:xfrm>
            <a:off x="8810625" y="2333625"/>
            <a:ext cx="47625" cy="1143000"/>
          </a:xfrm>
          <a:prstGeom prst="rect">
            <a:avLst/>
          </a:prstGeom>
          <a:solidFill>
            <a:srgbClr val="4D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6E00F1-79FA-453C-AEBF-44E5AEF81ACA}"/>
              </a:ext>
            </a:extLst>
          </p:cNvPr>
          <p:cNvSpPr>
            <a:spLocks noGrp="1"/>
          </p:cNvSpPr>
          <p:nvPr/>
        </p:nvSpPr>
        <p:spPr>
          <a:xfrm>
            <a:off x="9001125" y="2476500"/>
            <a:ext cx="2133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delegation / escalation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F63691-86D7-4382-AAE8-154B54B619A7}"/>
              </a:ext>
            </a:extLst>
          </p:cNvPr>
          <p:cNvSpPr>
            <a:spLocks noGrp="1"/>
          </p:cNvSpPr>
          <p:nvPr/>
        </p:nvSpPr>
        <p:spPr>
          <a:xfrm>
            <a:off x="9001125" y="2752725"/>
            <a:ext cx="21336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Named users, role inboxes, admin override, watchdog escalation.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055734-9479-4DE7-ABF1-B7FB8F18385B}"/>
              </a:ext>
            </a:extLst>
          </p:cNvPr>
          <p:cNvSpPr>
            <a:spLocks noGrp="1"/>
          </p:cNvSpPr>
          <p:nvPr/>
        </p:nvSpPr>
        <p:spPr>
          <a:xfrm>
            <a:off x="3381375" y="2876550"/>
            <a:ext cx="1476375" cy="28575"/>
          </a:xfrm>
          <a:prstGeom prst="rect">
            <a:avLst/>
          </a:prstGeom>
          <a:solidFill>
            <a:srgbClr val="2B34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EBBDDE-D824-444C-97AA-97B99B22B263}"/>
              </a:ext>
            </a:extLst>
          </p:cNvPr>
          <p:cNvSpPr>
            <a:spLocks noGrp="1"/>
          </p:cNvSpPr>
          <p:nvPr/>
        </p:nvSpPr>
        <p:spPr>
          <a:xfrm>
            <a:off x="7334250" y="2876550"/>
            <a:ext cx="1476375" cy="28575"/>
          </a:xfrm>
          <a:prstGeom prst="rect">
            <a:avLst/>
          </a:prstGeom>
          <a:solidFill>
            <a:srgbClr val="2B34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77821E-0E87-425E-8B6F-3FD842B67059}"/>
              </a:ext>
            </a:extLst>
          </p:cNvPr>
          <p:cNvSpPr>
            <a:spLocks noGrp="1"/>
          </p:cNvSpPr>
          <p:nvPr/>
        </p:nvSpPr>
        <p:spPr>
          <a:xfrm>
            <a:off x="2152650" y="4000500"/>
            <a:ext cx="7886700" cy="781050"/>
          </a:xfrm>
          <a:prstGeom prst="rect">
            <a:avLst/>
          </a:prstGeom>
          <a:solidFill>
            <a:srgbClr val="0D1524"/>
          </a:solidFill>
          <a:ln w="9525">
            <a:solidFill>
              <a:srgbClr val="BFA7FF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D3FB99-79A3-4D3A-9240-696DC94A9D1E}"/>
              </a:ext>
            </a:extLst>
          </p:cNvPr>
          <p:cNvSpPr>
            <a:spLocks noGrp="1"/>
          </p:cNvSpPr>
          <p:nvPr/>
        </p:nvSpPr>
        <p:spPr>
          <a:xfrm>
            <a:off x="2971800" y="4200525"/>
            <a:ext cx="2571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One task table, two task types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1B3BA6-0346-414E-B51C-A5289110CCB8}"/>
              </a:ext>
            </a:extLst>
          </p:cNvPr>
          <p:cNvSpPr>
            <a:spLocks noGrp="1"/>
          </p:cNvSpPr>
          <p:nvPr/>
        </p:nvSpPr>
        <p:spPr>
          <a:xfrm>
            <a:off x="5667375" y="4171950"/>
            <a:ext cx="3714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approval_tasks now carries approval and input lifecycles: pending -&gt; resolved, with assignment, delegation, escalation, audit log, and resume.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0CBD97-A4BB-4D9E-B48A-CA5C386DD983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723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0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9"/>
                </a:solidFill>
                <a:latin typeface="Aptos"/>
                <a:ea typeface="Aptos"/>
                <a:cs typeface="Aptos"/>
              </a:rPr>
              <a:t>Source: project docs, Graphify findings, and inspected repo structure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DB456A-2E88-4E8D-8A80-3A5DB8A8C7AD}"/>
              </a:ext>
            </a:extLst>
          </p:cNvPr>
          <p:cNvSpPr>
            <a:spLocks noGrp="1"/>
          </p:cNvSpPr>
          <p:nvPr/>
        </p:nvSpPr>
        <p:spPr>
          <a:xfrm>
            <a:off x="11296650" y="63817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77134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4F48644-E2ED-4709-BDE1-4B3ED61A69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7656E4-CF12-4EF0-8373-818C64DC1B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marker">
            <a:extLst>
              <a:ext uri="{FF2B5EF4-FFF2-40B4-BE49-F238E27FC236}">
                <a16:creationId xmlns:a16="http://schemas.microsoft.com/office/drawing/2014/main" id="{54F79B92-A4BD-4FB1-B850-08AD5A8B9DC4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400050" cy="28575"/>
          </a:xfrm>
          <a:prstGeom prst="rect">
            <a:avLst/>
          </a:prstGeom>
          <a:solidFill>
            <a:srgbClr val="4D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1-label">
            <a:extLst>
              <a:ext uri="{FF2B5EF4-FFF2-40B4-BE49-F238E27FC236}">
                <a16:creationId xmlns:a16="http://schemas.microsoft.com/office/drawing/2014/main" id="{F419D236-2BF9-4396-880C-124D1F43B099}"/>
              </a:ext>
            </a:extLst>
          </p:cNvPr>
          <p:cNvSpPr>
            <a:spLocks noGrp="1"/>
          </p:cNvSpPr>
          <p:nvPr/>
        </p:nvSpPr>
        <p:spPr>
          <a:xfrm>
            <a:off x="1104900" y="40957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RESOURCE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E39AC3-1F78-40F8-B1FC-5548B9BCB2E6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7429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Workspace Resources anchor workflows to real business objects.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FE0609-5EF2-425C-8374-2AEBCC293F4F}"/>
              </a:ext>
            </a:extLst>
          </p:cNvPr>
          <p:cNvSpPr>
            <a:spLocks noGrp="1"/>
          </p:cNvSpPr>
          <p:nvPr/>
        </p:nvSpPr>
        <p:spPr>
          <a:xfrm>
            <a:off x="952500" y="2333625"/>
            <a:ext cx="102870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FFB86B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DBDCBA-F36F-426E-87B9-2D0D3173F481}"/>
              </a:ext>
            </a:extLst>
          </p:cNvPr>
          <p:cNvSpPr>
            <a:spLocks noGrp="1"/>
          </p:cNvSpPr>
          <p:nvPr/>
        </p:nvSpPr>
        <p:spPr>
          <a:xfrm>
            <a:off x="1047750" y="2466975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Job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50A8AA-CDA5-42C5-8FEC-75983F2EA10B}"/>
              </a:ext>
            </a:extLst>
          </p:cNvPr>
          <p:cNvSpPr>
            <a:spLocks noGrp="1"/>
          </p:cNvSpPr>
          <p:nvPr/>
        </p:nvSpPr>
        <p:spPr>
          <a:xfrm>
            <a:off x="2238375" y="2333625"/>
            <a:ext cx="102870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FFB86B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1DC1DC-5B71-4848-BDCF-075B636B1757}"/>
              </a:ext>
            </a:extLst>
          </p:cNvPr>
          <p:cNvSpPr>
            <a:spLocks noGrp="1"/>
          </p:cNvSpPr>
          <p:nvPr/>
        </p:nvSpPr>
        <p:spPr>
          <a:xfrm>
            <a:off x="2333625" y="2466975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Invoice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30583A-0D22-4F6A-8930-0AEBF913D6F1}"/>
              </a:ext>
            </a:extLst>
          </p:cNvPr>
          <p:cNvSpPr>
            <a:spLocks noGrp="1"/>
          </p:cNvSpPr>
          <p:nvPr/>
        </p:nvSpPr>
        <p:spPr>
          <a:xfrm>
            <a:off x="3524250" y="2333625"/>
            <a:ext cx="102870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FFB86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FC203D-FF87-4EE9-9CC4-F8728C4AC052}"/>
              </a:ext>
            </a:extLst>
          </p:cNvPr>
          <p:cNvSpPr>
            <a:spLocks noGrp="1"/>
          </p:cNvSpPr>
          <p:nvPr/>
        </p:nvSpPr>
        <p:spPr>
          <a:xfrm>
            <a:off x="3619500" y="2466975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Vehicle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EF7A89-E2E2-462B-8C10-11D864D81E73}"/>
              </a:ext>
            </a:extLst>
          </p:cNvPr>
          <p:cNvSpPr>
            <a:spLocks noGrp="1"/>
          </p:cNvSpPr>
          <p:nvPr/>
        </p:nvSpPr>
        <p:spPr>
          <a:xfrm>
            <a:off x="4810125" y="2333625"/>
            <a:ext cx="102870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FFB86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F146A3-BAEA-4C28-8DA9-DEBD873CE6BB}"/>
              </a:ext>
            </a:extLst>
          </p:cNvPr>
          <p:cNvSpPr>
            <a:spLocks noGrp="1"/>
          </p:cNvSpPr>
          <p:nvPr/>
        </p:nvSpPr>
        <p:spPr>
          <a:xfrm>
            <a:off x="4905375" y="2466975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BOQ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085A47-CD70-406B-8460-7345A2B39675}"/>
              </a:ext>
            </a:extLst>
          </p:cNvPr>
          <p:cNvSpPr>
            <a:spLocks noGrp="1"/>
          </p:cNvSpPr>
          <p:nvPr/>
        </p:nvSpPr>
        <p:spPr>
          <a:xfrm>
            <a:off x="952500" y="3076575"/>
            <a:ext cx="102870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FFB86B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6BAFF0-6EA9-4FCD-B233-35F0E987CAB6}"/>
              </a:ext>
            </a:extLst>
          </p:cNvPr>
          <p:cNvSpPr>
            <a:spLocks noGrp="1"/>
          </p:cNvSpPr>
          <p:nvPr/>
        </p:nvSpPr>
        <p:spPr>
          <a:xfrm>
            <a:off x="1047750" y="3209925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95DE3B-D419-4EDD-BCD2-53A0E01DFEE6}"/>
              </a:ext>
            </a:extLst>
          </p:cNvPr>
          <p:cNvSpPr>
            <a:spLocks noGrp="1"/>
          </p:cNvSpPr>
          <p:nvPr/>
        </p:nvSpPr>
        <p:spPr>
          <a:xfrm>
            <a:off x="2238375" y="3076575"/>
            <a:ext cx="102870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FFB86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C04938-36DD-4FC6-A3F3-1CF3E8D0CBD1}"/>
              </a:ext>
            </a:extLst>
          </p:cNvPr>
          <p:cNvSpPr>
            <a:spLocks noGrp="1"/>
          </p:cNvSpPr>
          <p:nvPr/>
        </p:nvSpPr>
        <p:spPr>
          <a:xfrm>
            <a:off x="2333625" y="3209925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Variation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76005C-2C41-4C31-AA80-7BAD0785671C}"/>
              </a:ext>
            </a:extLst>
          </p:cNvPr>
          <p:cNvSpPr>
            <a:spLocks noGrp="1"/>
          </p:cNvSpPr>
          <p:nvPr/>
        </p:nvSpPr>
        <p:spPr>
          <a:xfrm>
            <a:off x="3524250" y="3076575"/>
            <a:ext cx="102870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FFB86B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C219E5-B863-4CA6-BA3D-BCE16BD29393}"/>
              </a:ext>
            </a:extLst>
          </p:cNvPr>
          <p:cNvSpPr>
            <a:spLocks noGrp="1"/>
          </p:cNvSpPr>
          <p:nvPr/>
        </p:nvSpPr>
        <p:spPr>
          <a:xfrm>
            <a:off x="3619500" y="3209925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Defect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A86FAA-C891-4D9C-A2A7-14CB18F0A14C}"/>
              </a:ext>
            </a:extLst>
          </p:cNvPr>
          <p:cNvSpPr>
            <a:spLocks noGrp="1"/>
          </p:cNvSpPr>
          <p:nvPr/>
        </p:nvSpPr>
        <p:spPr>
          <a:xfrm>
            <a:off x="4810125" y="3076575"/>
            <a:ext cx="102870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FFB86B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BD069C-8519-4A86-834B-5FFA1FF4E005}"/>
              </a:ext>
            </a:extLst>
          </p:cNvPr>
          <p:cNvSpPr>
            <a:spLocks noGrp="1"/>
          </p:cNvSpPr>
          <p:nvPr/>
        </p:nvSpPr>
        <p:spPr>
          <a:xfrm>
            <a:off x="4905375" y="3209925"/>
            <a:ext cx="83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405EF7-E1BA-432D-BB55-D6D6D5A87627}"/>
              </a:ext>
            </a:extLst>
          </p:cNvPr>
          <p:cNvSpPr>
            <a:spLocks noGrp="1"/>
          </p:cNvSpPr>
          <p:nvPr/>
        </p:nvSpPr>
        <p:spPr>
          <a:xfrm>
            <a:off x="1571625" y="2000250"/>
            <a:ext cx="3048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B86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B86B"/>
                </a:solidFill>
                <a:latin typeface="Aptos Display"/>
                <a:ea typeface="Aptos Display"/>
                <a:cs typeface="Aptos Display"/>
              </a:rPr>
              <a:t>Workspace Resources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1FF118C-B052-4F27-BD5F-A63CF71056CE}"/>
              </a:ext>
            </a:extLst>
          </p:cNvPr>
          <p:cNvSpPr>
            <a:spLocks noGrp="1"/>
          </p:cNvSpPr>
          <p:nvPr/>
        </p:nvSpPr>
        <p:spPr>
          <a:xfrm>
            <a:off x="6191250" y="2047875"/>
            <a:ext cx="2190750" cy="1619250"/>
          </a:xfrm>
          <a:prstGeom prst="rect">
            <a:avLst/>
          </a:prstGeom>
          <a:solidFill>
            <a:srgbClr val="0F1727"/>
          </a:solidFill>
          <a:ln w="19050">
            <a:solidFill>
              <a:srgbClr val="4DD8FF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39180F-A886-4F01-8A22-5CA539920BD1}"/>
              </a:ext>
            </a:extLst>
          </p:cNvPr>
          <p:cNvSpPr>
            <a:spLocks noGrp="1"/>
          </p:cNvSpPr>
          <p:nvPr/>
        </p:nvSpPr>
        <p:spPr>
          <a:xfrm>
            <a:off x="6524625" y="23241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Resource Binding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B342924-24CD-47BD-A115-D77F9A635785}"/>
              </a:ext>
            </a:extLst>
          </p:cNvPr>
          <p:cNvSpPr>
            <a:spLocks noGrp="1"/>
          </p:cNvSpPr>
          <p:nvPr/>
        </p:nvSpPr>
        <p:spPr>
          <a:xfrm>
            <a:off x="6591300" y="2781300"/>
            <a:ext cx="1428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workflow field key</a:t>
            </a:r>
          </a:p>
          <a:p>
            <a:pPr algn="ctr">
              <a:defRPr sz="1125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-&gt; governed resource id</a:t>
            </a:r>
          </a:p>
          <a:p>
            <a:pPr algn="ctr">
              <a:defRPr sz="1125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-&gt; resolved at run time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E162AA-9C8D-48BC-B2BC-0F6FFEE8964C}"/>
              </a:ext>
            </a:extLst>
          </p:cNvPr>
          <p:cNvSpPr>
            <a:spLocks noGrp="1"/>
          </p:cNvSpPr>
          <p:nvPr/>
        </p:nvSpPr>
        <p:spPr>
          <a:xfrm>
            <a:off x="5476875" y="2886075"/>
            <a:ext cx="714375" cy="28575"/>
          </a:xfrm>
          <a:prstGeom prst="rect">
            <a:avLst/>
          </a:prstGeom>
          <a:solidFill>
            <a:srgbClr val="2B34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0D4D13-1E8E-485F-BF68-7C8C1F3C97B0}"/>
              </a:ext>
            </a:extLst>
          </p:cNvPr>
          <p:cNvSpPr>
            <a:spLocks noGrp="1"/>
          </p:cNvSpPr>
          <p:nvPr/>
        </p:nvSpPr>
        <p:spPr>
          <a:xfrm>
            <a:off x="8382000" y="2886075"/>
            <a:ext cx="762000" cy="28575"/>
          </a:xfrm>
          <a:prstGeom prst="rect">
            <a:avLst/>
          </a:prstGeom>
          <a:solidFill>
            <a:srgbClr val="2B34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8AAA8EC-152B-40C0-82E9-BB90E6ED73C2}"/>
              </a:ext>
            </a:extLst>
          </p:cNvPr>
          <p:cNvSpPr>
            <a:spLocks noGrp="1"/>
          </p:cNvSpPr>
          <p:nvPr/>
        </p:nvSpPr>
        <p:spPr>
          <a:xfrm>
            <a:off x="9144000" y="2286000"/>
            <a:ext cx="2095500" cy="1143000"/>
          </a:xfrm>
          <a:prstGeom prst="rect">
            <a:avLst/>
          </a:prstGeom>
          <a:solidFill>
            <a:srgbClr val="122034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5EC643-6FC8-4460-91C5-8328C2973582}"/>
              </a:ext>
            </a:extLst>
          </p:cNvPr>
          <p:cNvSpPr>
            <a:spLocks noGrp="1"/>
          </p:cNvSpPr>
          <p:nvPr/>
        </p:nvSpPr>
        <p:spPr>
          <a:xfrm>
            <a:off x="9429750" y="25146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Execution context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1D2D87-0007-45DD-BEEF-7C489D7B7CDC}"/>
              </a:ext>
            </a:extLst>
          </p:cNvPr>
          <p:cNvSpPr>
            <a:spLocks noGrp="1"/>
          </p:cNvSpPr>
          <p:nvPr/>
        </p:nvSpPr>
        <p:spPr>
          <a:xfrm>
            <a:off x="9429750" y="2876550"/>
            <a:ext cx="1524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Nodes receive validated business objects instead of loose IDs.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9DD434E-BF73-488E-AEA0-744C2AF70914}"/>
              </a:ext>
            </a:extLst>
          </p:cNvPr>
          <p:cNvSpPr>
            <a:spLocks noGrp="1"/>
          </p:cNvSpPr>
          <p:nvPr/>
        </p:nvSpPr>
        <p:spPr>
          <a:xfrm>
            <a:off x="2000250" y="4810125"/>
            <a:ext cx="8191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This is the difference between automation that moves text around and automation that safely touches the actual business record.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B0B0B6-15E7-4F9B-8C92-E8F49DDBCED1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723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0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9"/>
                </a:solidFill>
                <a:latin typeface="Aptos"/>
                <a:ea typeface="Aptos"/>
                <a:cs typeface="Aptos"/>
              </a:rPr>
              <a:t>Source: project docs, Graphify findings, and inspected repo structure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131D59D-5FC5-4683-9317-EB149FE8FBC9}"/>
              </a:ext>
            </a:extLst>
          </p:cNvPr>
          <p:cNvSpPr>
            <a:spLocks noGrp="1"/>
          </p:cNvSpPr>
          <p:nvPr/>
        </p:nvSpPr>
        <p:spPr>
          <a:xfrm>
            <a:off x="11296650" y="63817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18293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C3E06C56-C8A5-4975-B6BA-5B77C76D21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010299-FBBA-42BC-80D4-7854A67E9E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marker">
            <a:extLst>
              <a:ext uri="{FF2B5EF4-FFF2-40B4-BE49-F238E27FC236}">
                <a16:creationId xmlns:a16="http://schemas.microsoft.com/office/drawing/2014/main" id="{F44CC88C-15D4-4D7F-919C-563E717B150D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400050" cy="28575"/>
          </a:xfrm>
          <a:prstGeom prst="rect">
            <a:avLst/>
          </a:prstGeom>
          <a:solidFill>
            <a:srgbClr val="4D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1-label">
            <a:extLst>
              <a:ext uri="{FF2B5EF4-FFF2-40B4-BE49-F238E27FC236}">
                <a16:creationId xmlns:a16="http://schemas.microsoft.com/office/drawing/2014/main" id="{6FCD1AF7-5D60-4516-BA00-5212345645C1}"/>
              </a:ext>
            </a:extLst>
          </p:cNvPr>
          <p:cNvSpPr>
            <a:spLocks noGrp="1"/>
          </p:cNvSpPr>
          <p:nvPr/>
        </p:nvSpPr>
        <p:spPr>
          <a:xfrm>
            <a:off x="1104900" y="40957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MATURITY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FB24BE-4B9B-4D55-B9F5-B5A798C73ACD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80962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Phase 21/22 moved Lados from prototype to enterprise foundation.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3D3340-70D2-4206-8E1F-019DA3CA9ED0}"/>
              </a:ext>
            </a:extLst>
          </p:cNvPr>
          <p:cNvSpPr>
            <a:spLocks noGrp="1"/>
          </p:cNvSpPr>
          <p:nvPr/>
        </p:nvSpPr>
        <p:spPr>
          <a:xfrm>
            <a:off x="1238250" y="3333750"/>
            <a:ext cx="9620250" cy="38100"/>
          </a:xfrm>
          <a:prstGeom prst="rect">
            <a:avLst/>
          </a:prstGeom>
          <a:solidFill>
            <a:srgbClr val="2B34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0EC785-4121-4D54-8099-DF509EA2F64C}"/>
              </a:ext>
            </a:extLst>
          </p:cNvPr>
          <p:cNvSpPr>
            <a:spLocks noGrp="1"/>
          </p:cNvSpPr>
          <p:nvPr/>
        </p:nvSpPr>
        <p:spPr>
          <a:xfrm>
            <a:off x="1143000" y="3086100"/>
            <a:ext cx="533400" cy="533400"/>
          </a:xfrm>
          <a:prstGeom prst="rect">
            <a:avLst/>
          </a:prstGeom>
          <a:solidFill>
            <a:srgbClr val="657089"/>
          </a:solidFill>
          <a:ln w="0">
            <a:solidFill>
              <a:srgbClr val="657089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6D789D-D78D-4959-BA8E-27D3AB11C14B}"/>
              </a:ext>
            </a:extLst>
          </p:cNvPr>
          <p:cNvSpPr>
            <a:spLocks noGrp="1"/>
          </p:cNvSpPr>
          <p:nvPr/>
        </p:nvSpPr>
        <p:spPr>
          <a:xfrm>
            <a:off x="1143000" y="3209925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90B1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90B10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912260-E7A5-4536-8D76-D5C6969C76E4}"/>
              </a:ext>
            </a:extLst>
          </p:cNvPr>
          <p:cNvSpPr>
            <a:spLocks noGrp="1"/>
          </p:cNvSpPr>
          <p:nvPr/>
        </p:nvSpPr>
        <p:spPr>
          <a:xfrm>
            <a:off x="714375" y="3905250"/>
            <a:ext cx="1428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Prototype freeze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8FFD78-6941-47A2-8B15-3455FDA4D700}"/>
              </a:ext>
            </a:extLst>
          </p:cNvPr>
          <p:cNvSpPr>
            <a:spLocks noGrp="1"/>
          </p:cNvSpPr>
          <p:nvPr/>
        </p:nvSpPr>
        <p:spPr>
          <a:xfrm>
            <a:off x="533400" y="4333875"/>
            <a:ext cx="17907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Archived old packs; official assets become the product line.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C140A0-0E90-46FA-A1D3-D01BF6E8D7E4}"/>
              </a:ext>
            </a:extLst>
          </p:cNvPr>
          <p:cNvSpPr>
            <a:spLocks noGrp="1"/>
          </p:cNvSpPr>
          <p:nvPr/>
        </p:nvSpPr>
        <p:spPr>
          <a:xfrm>
            <a:off x="3476625" y="3086100"/>
            <a:ext cx="533400" cy="533400"/>
          </a:xfrm>
          <a:prstGeom prst="rect">
            <a:avLst/>
          </a:prstGeom>
          <a:solidFill>
            <a:srgbClr val="4DD8FF"/>
          </a:solidFill>
          <a:ln w="0">
            <a:solidFill>
              <a:srgbClr val="4DD8F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9A183F-6D5D-4298-8FE8-DBBF6E2B3477}"/>
              </a:ext>
            </a:extLst>
          </p:cNvPr>
          <p:cNvSpPr>
            <a:spLocks noGrp="1"/>
          </p:cNvSpPr>
          <p:nvPr/>
        </p:nvSpPr>
        <p:spPr>
          <a:xfrm>
            <a:off x="3476625" y="3209925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90B1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90B10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63ECBA-7C07-404A-A020-80CB5D9AF077}"/>
              </a:ext>
            </a:extLst>
          </p:cNvPr>
          <p:cNvSpPr>
            <a:spLocks noGrp="1"/>
          </p:cNvSpPr>
          <p:nvPr/>
        </p:nvSpPr>
        <p:spPr>
          <a:xfrm>
            <a:off x="3048000" y="3905250"/>
            <a:ext cx="1428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Official runtime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9C3B8C-6B2E-4305-A27F-1CA648BFD14B}"/>
              </a:ext>
            </a:extLst>
          </p:cNvPr>
          <p:cNvSpPr>
            <a:spLocks noGrp="1"/>
          </p:cNvSpPr>
          <p:nvPr/>
        </p:nvSpPr>
        <p:spPr>
          <a:xfrm>
            <a:off x="2867025" y="4333875"/>
            <a:ext cx="17907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Manifest loader, pack validator, real executors, node registry.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0594C8-1ED4-4682-A069-2E0FB381AE9E}"/>
              </a:ext>
            </a:extLst>
          </p:cNvPr>
          <p:cNvSpPr>
            <a:spLocks noGrp="1"/>
          </p:cNvSpPr>
          <p:nvPr/>
        </p:nvSpPr>
        <p:spPr>
          <a:xfrm>
            <a:off x="5810250" y="3086100"/>
            <a:ext cx="533400" cy="533400"/>
          </a:xfrm>
          <a:prstGeom prst="rect">
            <a:avLst/>
          </a:prstGeom>
          <a:solidFill>
            <a:srgbClr val="6EE7B7"/>
          </a:solidFill>
          <a:ln w="0">
            <a:solidFill>
              <a:srgbClr val="6EE7B7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B2B9DB-0B0D-454B-804A-439BF3A32832}"/>
              </a:ext>
            </a:extLst>
          </p:cNvPr>
          <p:cNvSpPr>
            <a:spLocks noGrp="1"/>
          </p:cNvSpPr>
          <p:nvPr/>
        </p:nvSpPr>
        <p:spPr>
          <a:xfrm>
            <a:off x="5810250" y="3209925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90B1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90B10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50C722-C4E7-4B50-9712-FD1BC5229AF7}"/>
              </a:ext>
            </a:extLst>
          </p:cNvPr>
          <p:cNvSpPr>
            <a:spLocks noGrp="1"/>
          </p:cNvSpPr>
          <p:nvPr/>
        </p:nvSpPr>
        <p:spPr>
          <a:xfrm>
            <a:off x="5381625" y="3905250"/>
            <a:ext cx="1428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Engine hardening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8464A9-EB75-4289-BC4B-8C874D90AC67}"/>
              </a:ext>
            </a:extLst>
          </p:cNvPr>
          <p:cNvSpPr>
            <a:spLocks noGrp="1"/>
          </p:cNvSpPr>
          <p:nvPr/>
        </p:nvSpPr>
        <p:spPr>
          <a:xfrm>
            <a:off x="5200650" y="4333875"/>
            <a:ext cx="17907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Queue fallback, watchdog, SSE node status, publish regression tests.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1E54B9-2BF1-401F-B86A-8B96D79F38EF}"/>
              </a:ext>
            </a:extLst>
          </p:cNvPr>
          <p:cNvSpPr>
            <a:spLocks noGrp="1"/>
          </p:cNvSpPr>
          <p:nvPr/>
        </p:nvSpPr>
        <p:spPr>
          <a:xfrm>
            <a:off x="8143875" y="3086100"/>
            <a:ext cx="533400" cy="533400"/>
          </a:xfrm>
          <a:prstGeom prst="rect">
            <a:avLst/>
          </a:prstGeom>
          <a:solidFill>
            <a:srgbClr val="FFB86B"/>
          </a:solidFill>
          <a:ln w="0">
            <a:solidFill>
              <a:srgbClr val="FFB86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A806CB-E7CD-441D-9913-D43F526915D7}"/>
              </a:ext>
            </a:extLst>
          </p:cNvPr>
          <p:cNvSpPr>
            <a:spLocks noGrp="1"/>
          </p:cNvSpPr>
          <p:nvPr/>
        </p:nvSpPr>
        <p:spPr>
          <a:xfrm>
            <a:off x="8143875" y="3209925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90B1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90B10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FB3DCC-6F34-43F9-9C96-FA088A8D0A18}"/>
              </a:ext>
            </a:extLst>
          </p:cNvPr>
          <p:cNvSpPr>
            <a:spLocks noGrp="1"/>
          </p:cNvSpPr>
          <p:nvPr/>
        </p:nvSpPr>
        <p:spPr>
          <a:xfrm>
            <a:off x="7715250" y="3905250"/>
            <a:ext cx="1428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Enterprise foundation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5E6082-8634-4A1B-A55E-22FDB0B7122B}"/>
              </a:ext>
            </a:extLst>
          </p:cNvPr>
          <p:cNvSpPr>
            <a:spLocks noGrp="1"/>
          </p:cNvSpPr>
          <p:nvPr/>
        </p:nvSpPr>
        <p:spPr>
          <a:xfrm>
            <a:off x="7534275" y="4333875"/>
            <a:ext cx="17907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Departments, idempotency, HITL upgrade, analytics, branching.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0DFFBF-5A4C-44FB-9250-8DE4174F869F}"/>
              </a:ext>
            </a:extLst>
          </p:cNvPr>
          <p:cNvSpPr>
            <a:spLocks noGrp="1"/>
          </p:cNvSpPr>
          <p:nvPr/>
        </p:nvSpPr>
        <p:spPr>
          <a:xfrm>
            <a:off x="10477500" y="3086100"/>
            <a:ext cx="533400" cy="533400"/>
          </a:xfrm>
          <a:prstGeom prst="rect">
            <a:avLst/>
          </a:prstGeom>
          <a:solidFill>
            <a:srgbClr val="BFA7FF"/>
          </a:solidFill>
          <a:ln w="0">
            <a:solidFill>
              <a:srgbClr val="BFA7FF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B23A66-081F-4487-BD6C-3FC634A3F774}"/>
              </a:ext>
            </a:extLst>
          </p:cNvPr>
          <p:cNvSpPr>
            <a:spLocks noGrp="1"/>
          </p:cNvSpPr>
          <p:nvPr/>
        </p:nvSpPr>
        <p:spPr>
          <a:xfrm>
            <a:off x="10477500" y="3209925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90B1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90B10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9E7F40-D5DA-4D54-88C6-5CC429DAAD0F}"/>
              </a:ext>
            </a:extLst>
          </p:cNvPr>
          <p:cNvSpPr>
            <a:spLocks noGrp="1"/>
          </p:cNvSpPr>
          <p:nvPr/>
        </p:nvSpPr>
        <p:spPr>
          <a:xfrm>
            <a:off x="10048875" y="3905250"/>
            <a:ext cx="1428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Retention live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4A8EE7-7104-468A-A7E5-13F460D8E6A2}"/>
              </a:ext>
            </a:extLst>
          </p:cNvPr>
          <p:cNvSpPr>
            <a:spLocks noGrp="1"/>
          </p:cNvSpPr>
          <p:nvPr/>
        </p:nvSpPr>
        <p:spPr>
          <a:xfrm>
            <a:off x="9867900" y="4333875"/>
            <a:ext cx="17907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Export-before-disposal archival service with audit summaries.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C6A27B8-ADC7-480D-8995-4254185EBF08}"/>
              </a:ext>
            </a:extLst>
          </p:cNvPr>
          <p:cNvSpPr>
            <a:spLocks noGrp="1"/>
          </p:cNvSpPr>
          <p:nvPr/>
        </p:nvSpPr>
        <p:spPr>
          <a:xfrm>
            <a:off x="1524000" y="5619750"/>
            <a:ext cx="9144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6EE7B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E7B7"/>
                </a:solidFill>
                <a:latin typeface="Aptos"/>
                <a:ea typeface="Aptos"/>
                <a:cs typeface="Aptos"/>
              </a:rPr>
              <a:t>Current standing: Phase 22 handover notes mark S22.1-S22.5 complete/live; remaining items are productization and operational launch readiness.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5275B4A-0AA5-46FD-A492-CE8FED530242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723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0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9"/>
                </a:solidFill>
                <a:latin typeface="Aptos"/>
                <a:ea typeface="Aptos"/>
                <a:cs typeface="Aptos"/>
              </a:rPr>
              <a:t>Source: project docs, Graphify findings, and inspected repo structure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75B393-4A76-4FF9-A06A-57118532C62D}"/>
              </a:ext>
            </a:extLst>
          </p:cNvPr>
          <p:cNvSpPr>
            <a:spLocks noGrp="1"/>
          </p:cNvSpPr>
          <p:nvPr/>
        </p:nvSpPr>
        <p:spPr>
          <a:xfrm>
            <a:off x="11296650" y="63817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34337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B2AA89C7-382A-47D9-9AEA-1586FD2AF0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3E8014-0CC3-4701-A0A5-13893A87C7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marker">
            <a:extLst>
              <a:ext uri="{FF2B5EF4-FFF2-40B4-BE49-F238E27FC236}">
                <a16:creationId xmlns:a16="http://schemas.microsoft.com/office/drawing/2014/main" id="{D2FB62F6-DA87-49D4-A6A8-09DBCE76A357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400050" cy="28575"/>
          </a:xfrm>
          <a:prstGeom prst="rect">
            <a:avLst/>
          </a:prstGeom>
          <a:solidFill>
            <a:srgbClr val="4D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1-label">
            <a:extLst>
              <a:ext uri="{FF2B5EF4-FFF2-40B4-BE49-F238E27FC236}">
                <a16:creationId xmlns:a16="http://schemas.microsoft.com/office/drawing/2014/main" id="{D9765D1B-2F4F-488B-91E6-804FC6025651}"/>
              </a:ext>
            </a:extLst>
          </p:cNvPr>
          <p:cNvSpPr>
            <a:spLocks noGrp="1"/>
          </p:cNvSpPr>
          <p:nvPr/>
        </p:nvSpPr>
        <p:spPr>
          <a:xfrm>
            <a:off x="1104900" y="40957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COMMERCIAL LOGIC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9ADAF2-9C5C-4548-9933-5246AF60B186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79057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The engine compounds value through efficiency, quality, and expansion.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5B7D15-D43B-41CA-A738-26A13F31ED05}"/>
              </a:ext>
            </a:extLst>
          </p:cNvPr>
          <p:cNvSpPr>
            <a:spLocks noGrp="1"/>
          </p:cNvSpPr>
          <p:nvPr/>
        </p:nvSpPr>
        <p:spPr>
          <a:xfrm>
            <a:off x="1238250" y="2381250"/>
            <a:ext cx="1809750" cy="685800"/>
          </a:xfrm>
          <a:prstGeom prst="rect">
            <a:avLst/>
          </a:prstGeom>
          <a:solidFill>
            <a:srgbClr val="101827"/>
          </a:solidFill>
          <a:ln w="9525">
            <a:solidFill>
              <a:srgbClr val="4DD8F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7E3A49-7DFC-4529-B036-ABCD14473C08}"/>
              </a:ext>
            </a:extLst>
          </p:cNvPr>
          <p:cNvSpPr>
            <a:spLocks noGrp="1"/>
          </p:cNvSpPr>
          <p:nvPr/>
        </p:nvSpPr>
        <p:spPr>
          <a:xfrm>
            <a:off x="1409700" y="2571750"/>
            <a:ext cx="1466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Workflow templates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0F1ADD-017C-4693-8EA2-E49B4C31574E}"/>
              </a:ext>
            </a:extLst>
          </p:cNvPr>
          <p:cNvSpPr>
            <a:spLocks noGrp="1"/>
          </p:cNvSpPr>
          <p:nvPr/>
        </p:nvSpPr>
        <p:spPr>
          <a:xfrm>
            <a:off x="4000500" y="2190750"/>
            <a:ext cx="1809750" cy="685800"/>
          </a:xfrm>
          <a:prstGeom prst="rect">
            <a:avLst/>
          </a:prstGeom>
          <a:solidFill>
            <a:srgbClr val="101827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E22A13-F651-4E68-BCE9-AF8452D9E979}"/>
              </a:ext>
            </a:extLst>
          </p:cNvPr>
          <p:cNvSpPr>
            <a:spLocks noGrp="1"/>
          </p:cNvSpPr>
          <p:nvPr/>
        </p:nvSpPr>
        <p:spPr>
          <a:xfrm>
            <a:off x="4171950" y="2381250"/>
            <a:ext cx="1466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Faster implementation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4F84BC-EBD2-4E85-8B72-C9C8699879CB}"/>
              </a:ext>
            </a:extLst>
          </p:cNvPr>
          <p:cNvSpPr>
            <a:spLocks noGrp="1"/>
          </p:cNvSpPr>
          <p:nvPr/>
        </p:nvSpPr>
        <p:spPr>
          <a:xfrm>
            <a:off x="6953250" y="2381250"/>
            <a:ext cx="1809750" cy="685800"/>
          </a:xfrm>
          <a:prstGeom prst="rect">
            <a:avLst/>
          </a:prstGeom>
          <a:solidFill>
            <a:srgbClr val="101827"/>
          </a:solidFill>
          <a:ln w="9525">
            <a:solidFill>
              <a:srgbClr val="FFB86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26F2F2-0958-4BB4-85EA-CC33D2FC6A74}"/>
              </a:ext>
            </a:extLst>
          </p:cNvPr>
          <p:cNvSpPr>
            <a:spLocks noGrp="1"/>
          </p:cNvSpPr>
          <p:nvPr/>
        </p:nvSpPr>
        <p:spPr>
          <a:xfrm>
            <a:off x="7124700" y="2571750"/>
            <a:ext cx="1466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More trusted runs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EFC5E1-10C2-4E9E-B937-3F6B68D93038}"/>
              </a:ext>
            </a:extLst>
          </p:cNvPr>
          <p:cNvSpPr>
            <a:spLocks noGrp="1"/>
          </p:cNvSpPr>
          <p:nvPr/>
        </p:nvSpPr>
        <p:spPr>
          <a:xfrm>
            <a:off x="6953250" y="4238625"/>
            <a:ext cx="1809750" cy="685800"/>
          </a:xfrm>
          <a:prstGeom prst="rect">
            <a:avLst/>
          </a:prstGeom>
          <a:solidFill>
            <a:srgbClr val="101827"/>
          </a:solidFill>
          <a:ln w="9525">
            <a:solidFill>
              <a:srgbClr val="BFA7F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49C7D5-163D-4963-B34A-4BE9280DBD5E}"/>
              </a:ext>
            </a:extLst>
          </p:cNvPr>
          <p:cNvSpPr>
            <a:spLocks noGrp="1"/>
          </p:cNvSpPr>
          <p:nvPr/>
        </p:nvSpPr>
        <p:spPr>
          <a:xfrm>
            <a:off x="7124700" y="4429125"/>
            <a:ext cx="1466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Marketplace packs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48A78B-749D-4B98-A251-F2495D63E1AB}"/>
              </a:ext>
            </a:extLst>
          </p:cNvPr>
          <p:cNvSpPr>
            <a:spLocks noGrp="1"/>
          </p:cNvSpPr>
          <p:nvPr/>
        </p:nvSpPr>
        <p:spPr>
          <a:xfrm>
            <a:off x="4000500" y="5029200"/>
            <a:ext cx="1809750" cy="685800"/>
          </a:xfrm>
          <a:prstGeom prst="rect">
            <a:avLst/>
          </a:prstGeom>
          <a:solidFill>
            <a:srgbClr val="101827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E0640B-DD0D-4998-8041-CB5831A2951E}"/>
              </a:ext>
            </a:extLst>
          </p:cNvPr>
          <p:cNvSpPr>
            <a:spLocks noGrp="1"/>
          </p:cNvSpPr>
          <p:nvPr/>
        </p:nvSpPr>
        <p:spPr>
          <a:xfrm>
            <a:off x="4171950" y="5219700"/>
            <a:ext cx="1466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Reusable evidence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9C1D0F-5691-4531-B4B9-88081E46427B}"/>
              </a:ext>
            </a:extLst>
          </p:cNvPr>
          <p:cNvSpPr>
            <a:spLocks noGrp="1"/>
          </p:cNvSpPr>
          <p:nvPr/>
        </p:nvSpPr>
        <p:spPr>
          <a:xfrm>
            <a:off x="1238250" y="4238625"/>
            <a:ext cx="1809750" cy="685800"/>
          </a:xfrm>
          <a:prstGeom prst="rect">
            <a:avLst/>
          </a:prstGeom>
          <a:solidFill>
            <a:srgbClr val="101827"/>
          </a:solidFill>
          <a:ln w="9525">
            <a:solidFill>
              <a:srgbClr val="FFB86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92D5EA-7562-4E1D-9161-3E6B085808C7}"/>
              </a:ext>
            </a:extLst>
          </p:cNvPr>
          <p:cNvSpPr>
            <a:spLocks noGrp="1"/>
          </p:cNvSpPr>
          <p:nvPr/>
        </p:nvSpPr>
        <p:spPr>
          <a:xfrm>
            <a:off x="1409700" y="4429125"/>
            <a:ext cx="1466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Lower delivery cost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FA8384-A0C7-4249-9958-9986B12BAE83}"/>
              </a:ext>
            </a:extLst>
          </p:cNvPr>
          <p:cNvSpPr>
            <a:spLocks noGrp="1"/>
          </p:cNvSpPr>
          <p:nvPr/>
        </p:nvSpPr>
        <p:spPr>
          <a:xfrm>
            <a:off x="3048000" y="2724150"/>
            <a:ext cx="952500" cy="28575"/>
          </a:xfrm>
          <a:prstGeom prst="rect">
            <a:avLst/>
          </a:prstGeom>
          <a:solidFill>
            <a:srgbClr val="3945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552CE1-622E-40D4-B0BD-9287F83A35F0}"/>
              </a:ext>
            </a:extLst>
          </p:cNvPr>
          <p:cNvSpPr>
            <a:spLocks noGrp="1"/>
          </p:cNvSpPr>
          <p:nvPr/>
        </p:nvSpPr>
        <p:spPr>
          <a:xfrm>
            <a:off x="5810250" y="2533650"/>
            <a:ext cx="1143000" cy="28575"/>
          </a:xfrm>
          <a:prstGeom prst="rect">
            <a:avLst/>
          </a:prstGeom>
          <a:solidFill>
            <a:srgbClr val="3945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A16156-54D1-4777-941F-63435839E17B}"/>
              </a:ext>
            </a:extLst>
          </p:cNvPr>
          <p:cNvSpPr>
            <a:spLocks noGrp="1"/>
          </p:cNvSpPr>
          <p:nvPr/>
        </p:nvSpPr>
        <p:spPr>
          <a:xfrm>
            <a:off x="7858125" y="3067050"/>
            <a:ext cx="28575" cy="1171575"/>
          </a:xfrm>
          <a:prstGeom prst="rect">
            <a:avLst/>
          </a:prstGeom>
          <a:solidFill>
            <a:srgbClr val="3945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0216F0-EA7A-489C-8E68-E5E8B97E464E}"/>
              </a:ext>
            </a:extLst>
          </p:cNvPr>
          <p:cNvSpPr>
            <a:spLocks noGrp="1"/>
          </p:cNvSpPr>
          <p:nvPr/>
        </p:nvSpPr>
        <p:spPr>
          <a:xfrm>
            <a:off x="5810250" y="5200650"/>
            <a:ext cx="1143000" cy="28575"/>
          </a:xfrm>
          <a:prstGeom prst="rect">
            <a:avLst/>
          </a:prstGeom>
          <a:solidFill>
            <a:srgbClr val="3945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B4EB45-2610-4B5D-BB92-D852D6F0D523}"/>
              </a:ext>
            </a:extLst>
          </p:cNvPr>
          <p:cNvSpPr>
            <a:spLocks noGrp="1"/>
          </p:cNvSpPr>
          <p:nvPr/>
        </p:nvSpPr>
        <p:spPr>
          <a:xfrm>
            <a:off x="2143125" y="3067050"/>
            <a:ext cx="28575" cy="1171575"/>
          </a:xfrm>
          <a:prstGeom prst="rect">
            <a:avLst/>
          </a:prstGeom>
          <a:solidFill>
            <a:srgbClr val="3945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C74D81-A5FD-430D-BF44-5448E3AE05C5}"/>
              </a:ext>
            </a:extLst>
          </p:cNvPr>
          <p:cNvSpPr>
            <a:spLocks noGrp="1"/>
          </p:cNvSpPr>
          <p:nvPr/>
        </p:nvSpPr>
        <p:spPr>
          <a:xfrm>
            <a:off x="3048000" y="4581525"/>
            <a:ext cx="952500" cy="28575"/>
          </a:xfrm>
          <a:prstGeom prst="rect">
            <a:avLst/>
          </a:prstGeom>
          <a:solidFill>
            <a:srgbClr val="3945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F36A703-3931-4297-BC45-173BF0FEBA8F}"/>
              </a:ext>
            </a:extLst>
          </p:cNvPr>
          <p:cNvSpPr>
            <a:spLocks noGrp="1"/>
          </p:cNvSpPr>
          <p:nvPr/>
        </p:nvSpPr>
        <p:spPr>
          <a:xfrm>
            <a:off x="4810125" y="3086100"/>
            <a:ext cx="2571750" cy="876300"/>
          </a:xfrm>
          <a:prstGeom prst="rect">
            <a:avLst/>
          </a:prstGeom>
          <a:solidFill>
            <a:srgbClr val="122034"/>
          </a:solidFill>
          <a:ln w="19050">
            <a:solidFill>
              <a:srgbClr val="4DD8FF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8B60AB-0AD8-4644-B61A-A1970ED61744}"/>
              </a:ext>
            </a:extLst>
          </p:cNvPr>
          <p:cNvSpPr>
            <a:spLocks noGrp="1"/>
          </p:cNvSpPr>
          <p:nvPr/>
        </p:nvSpPr>
        <p:spPr>
          <a:xfrm>
            <a:off x="5257800" y="3314700"/>
            <a:ext cx="1676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Expansion loop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2B0012B-B87C-4088-8F1E-8B5AE43664D5}"/>
              </a:ext>
            </a:extLst>
          </p:cNvPr>
          <p:cNvSpPr>
            <a:spLocks noGrp="1"/>
          </p:cNvSpPr>
          <p:nvPr/>
        </p:nvSpPr>
        <p:spPr>
          <a:xfrm>
            <a:off x="5048250" y="365760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more packs -&gt; more workflows -&gt; more governed outcomes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C7E7E2B-512D-49AA-B7FB-B16C62A12B60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723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0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9"/>
                </a:solidFill>
                <a:latin typeface="Aptos"/>
                <a:ea typeface="Aptos"/>
                <a:cs typeface="Aptos"/>
              </a:rPr>
              <a:t>Source: project docs, Graphify findings, and inspected repo structure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A1E732F-5EA2-4D7C-8EB9-99C53D4E0FE9}"/>
              </a:ext>
            </a:extLst>
          </p:cNvPr>
          <p:cNvSpPr>
            <a:spLocks noGrp="1"/>
          </p:cNvSpPr>
          <p:nvPr/>
        </p:nvSpPr>
        <p:spPr>
          <a:xfrm>
            <a:off x="11296650" y="63817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65616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DD932BD-1437-455E-A375-71312E2EB4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9D674F-C1BE-49C6-B44E-C591AFF791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marker">
            <a:extLst>
              <a:ext uri="{FF2B5EF4-FFF2-40B4-BE49-F238E27FC236}">
                <a16:creationId xmlns:a16="http://schemas.microsoft.com/office/drawing/2014/main" id="{E9AF799C-46B8-4979-A7E0-B697AB5A1D22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400050" cy="28575"/>
          </a:xfrm>
          <a:prstGeom prst="rect">
            <a:avLst/>
          </a:prstGeom>
          <a:solidFill>
            <a:srgbClr val="4D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1-label">
            <a:extLst>
              <a:ext uri="{FF2B5EF4-FFF2-40B4-BE49-F238E27FC236}">
                <a16:creationId xmlns:a16="http://schemas.microsoft.com/office/drawing/2014/main" id="{5B54DC6A-C22E-4BF0-98F7-4FE914E06342}"/>
              </a:ext>
            </a:extLst>
          </p:cNvPr>
          <p:cNvSpPr>
            <a:spLocks noGrp="1"/>
          </p:cNvSpPr>
          <p:nvPr/>
        </p:nvSpPr>
        <p:spPr>
          <a:xfrm>
            <a:off x="1104900" y="40957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READINESS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104A37-AE3E-4D3C-86E1-8B1B81E89EF5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83820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Lados is foundation-ready; launch readiness now depends on operational gates.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2CC012-E5ED-4CD4-A221-42CCE209362B}"/>
              </a:ext>
            </a:extLst>
          </p:cNvPr>
          <p:cNvSpPr>
            <a:spLocks noGrp="1"/>
          </p:cNvSpPr>
          <p:nvPr/>
        </p:nvSpPr>
        <p:spPr>
          <a:xfrm>
            <a:off x="1123950" y="2133600"/>
            <a:ext cx="9944100" cy="3143250"/>
          </a:xfrm>
          <a:prstGeom prst="rect">
            <a:avLst/>
          </a:prstGeom>
          <a:solidFill>
            <a:srgbClr val="0D1422"/>
          </a:solidFill>
          <a:ln w="9525">
            <a:solidFill>
              <a:srgbClr val="2B3448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792552-38FE-4D91-A114-6E1E0BD30509}"/>
              </a:ext>
            </a:extLst>
          </p:cNvPr>
          <p:cNvSpPr>
            <a:spLocks noGrp="1"/>
          </p:cNvSpPr>
          <p:nvPr/>
        </p:nvSpPr>
        <p:spPr>
          <a:xfrm>
            <a:off x="1466850" y="23431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Official packs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226E68-96AB-473D-AE5D-960BE797A934}"/>
              </a:ext>
            </a:extLst>
          </p:cNvPr>
          <p:cNvSpPr>
            <a:spLocks noGrp="1"/>
          </p:cNvSpPr>
          <p:nvPr/>
        </p:nvSpPr>
        <p:spPr>
          <a:xfrm>
            <a:off x="4000500" y="23431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runtime packs built and validated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86FA74-3BF5-4570-A673-5B060C7D1FD0}"/>
              </a:ext>
            </a:extLst>
          </p:cNvPr>
          <p:cNvSpPr>
            <a:spLocks noGrp="1"/>
          </p:cNvSpPr>
          <p:nvPr/>
        </p:nvSpPr>
        <p:spPr>
          <a:xfrm>
            <a:off x="9715500" y="2324100"/>
            <a:ext cx="819150" cy="266700"/>
          </a:xfrm>
          <a:prstGeom prst="rect">
            <a:avLst/>
          </a:prstGeom>
          <a:solidFill>
            <a:srgbClr val="6EE7B7"/>
          </a:solidFill>
          <a:ln w="0">
            <a:solidFill>
              <a:srgbClr val="6EE7B7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B48E05-E1BC-4586-8ECE-AF1060117440}"/>
              </a:ext>
            </a:extLst>
          </p:cNvPr>
          <p:cNvSpPr>
            <a:spLocks noGrp="1"/>
          </p:cNvSpPr>
          <p:nvPr/>
        </p:nvSpPr>
        <p:spPr>
          <a:xfrm>
            <a:off x="9715500" y="2390775"/>
            <a:ext cx="81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90B1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90B10"/>
                </a:solidFill>
                <a:latin typeface="Aptos Mono"/>
                <a:ea typeface="Aptos Mono"/>
                <a:cs typeface="Aptos Mono"/>
              </a:rPr>
              <a:t>LIVE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23321A-6684-41A4-BFEE-78DC689B31DE}"/>
              </a:ext>
            </a:extLst>
          </p:cNvPr>
          <p:cNvSpPr>
            <a:spLocks noGrp="1"/>
          </p:cNvSpPr>
          <p:nvPr/>
        </p:nvSpPr>
        <p:spPr>
          <a:xfrm>
            <a:off x="1352550" y="2781300"/>
            <a:ext cx="9486900" cy="9525"/>
          </a:xfrm>
          <a:prstGeom prst="rect">
            <a:avLst/>
          </a:prstGeom>
          <a:solidFill>
            <a:srgbClr val="2B34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5211A1-3664-4AEE-81FD-723D73A6365D}"/>
              </a:ext>
            </a:extLst>
          </p:cNvPr>
          <p:cNvSpPr>
            <a:spLocks noGrp="1"/>
          </p:cNvSpPr>
          <p:nvPr/>
        </p:nvSpPr>
        <p:spPr>
          <a:xfrm>
            <a:off x="1466850" y="28956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Enterprise foundation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FE288D-33B5-4FD2-839D-834A2AFDA147}"/>
              </a:ext>
            </a:extLst>
          </p:cNvPr>
          <p:cNvSpPr>
            <a:spLocks noGrp="1"/>
          </p:cNvSpPr>
          <p:nvPr/>
        </p:nvSpPr>
        <p:spPr>
          <a:xfrm>
            <a:off x="4000500" y="289560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departments, analytics, HITL, branching, retention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68EDC8-64D2-4A8D-9AAF-09EF86E037C5}"/>
              </a:ext>
            </a:extLst>
          </p:cNvPr>
          <p:cNvSpPr>
            <a:spLocks noGrp="1"/>
          </p:cNvSpPr>
          <p:nvPr/>
        </p:nvSpPr>
        <p:spPr>
          <a:xfrm>
            <a:off x="9715500" y="2876550"/>
            <a:ext cx="819150" cy="266700"/>
          </a:xfrm>
          <a:prstGeom prst="rect">
            <a:avLst/>
          </a:prstGeom>
          <a:solidFill>
            <a:srgbClr val="6EE7B7"/>
          </a:solidFill>
          <a:ln w="0">
            <a:solidFill>
              <a:srgbClr val="6EE7B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BFCF42-8893-46E3-9869-5E8592DDF0E8}"/>
              </a:ext>
            </a:extLst>
          </p:cNvPr>
          <p:cNvSpPr>
            <a:spLocks noGrp="1"/>
          </p:cNvSpPr>
          <p:nvPr/>
        </p:nvSpPr>
        <p:spPr>
          <a:xfrm>
            <a:off x="9715500" y="2943225"/>
            <a:ext cx="81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90B1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90B10"/>
                </a:solidFill>
                <a:latin typeface="Aptos Mono"/>
                <a:ea typeface="Aptos Mono"/>
                <a:cs typeface="Aptos Mono"/>
              </a:rPr>
              <a:t>LIVE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6A2D4D-90E4-431C-8CA6-FE7599035C9D}"/>
              </a:ext>
            </a:extLst>
          </p:cNvPr>
          <p:cNvSpPr>
            <a:spLocks noGrp="1"/>
          </p:cNvSpPr>
          <p:nvPr/>
        </p:nvSpPr>
        <p:spPr>
          <a:xfrm>
            <a:off x="1352550" y="3333750"/>
            <a:ext cx="9486900" cy="9525"/>
          </a:xfrm>
          <a:prstGeom prst="rect">
            <a:avLst/>
          </a:prstGeom>
          <a:solidFill>
            <a:srgbClr val="2B34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FCA2A0-B590-427F-9B73-F87FBCFDE831}"/>
              </a:ext>
            </a:extLst>
          </p:cNvPr>
          <p:cNvSpPr>
            <a:spLocks noGrp="1"/>
          </p:cNvSpPr>
          <p:nvPr/>
        </p:nvSpPr>
        <p:spPr>
          <a:xfrm>
            <a:off x="1466850" y="34480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Queue infrastructure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18FF8D-479C-48CD-8274-ADC75886C8D1}"/>
              </a:ext>
            </a:extLst>
          </p:cNvPr>
          <p:cNvSpPr>
            <a:spLocks noGrp="1"/>
          </p:cNvSpPr>
          <p:nvPr/>
        </p:nvSpPr>
        <p:spPr>
          <a:xfrm>
            <a:off x="4000500" y="34480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fallback works; live Upstash credential verification remains a known watch item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E3F14A-33DA-4192-A6C4-D94AF488E63C}"/>
              </a:ext>
            </a:extLst>
          </p:cNvPr>
          <p:cNvSpPr>
            <a:spLocks noGrp="1"/>
          </p:cNvSpPr>
          <p:nvPr/>
        </p:nvSpPr>
        <p:spPr>
          <a:xfrm>
            <a:off x="9715500" y="3429000"/>
            <a:ext cx="819150" cy="266700"/>
          </a:xfrm>
          <a:prstGeom prst="rect">
            <a:avLst/>
          </a:prstGeom>
          <a:solidFill>
            <a:srgbClr val="FFB86B"/>
          </a:solidFill>
          <a:ln w="0">
            <a:solidFill>
              <a:srgbClr val="FFB86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BACDAC-EC48-432A-BE87-C8DAFEE27161}"/>
              </a:ext>
            </a:extLst>
          </p:cNvPr>
          <p:cNvSpPr>
            <a:spLocks noGrp="1"/>
          </p:cNvSpPr>
          <p:nvPr/>
        </p:nvSpPr>
        <p:spPr>
          <a:xfrm>
            <a:off x="9715500" y="3495675"/>
            <a:ext cx="81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90B1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90B10"/>
                </a:solidFill>
                <a:latin typeface="Aptos Mono"/>
                <a:ea typeface="Aptos Mono"/>
                <a:cs typeface="Aptos Mono"/>
              </a:rPr>
              <a:t>NEXT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B21381-2FC3-4033-8510-382815F9F3FA}"/>
              </a:ext>
            </a:extLst>
          </p:cNvPr>
          <p:cNvSpPr>
            <a:spLocks noGrp="1"/>
          </p:cNvSpPr>
          <p:nvPr/>
        </p:nvSpPr>
        <p:spPr>
          <a:xfrm>
            <a:off x="1352550" y="3886200"/>
            <a:ext cx="9486900" cy="9525"/>
          </a:xfrm>
          <a:prstGeom prst="rect">
            <a:avLst/>
          </a:prstGeom>
          <a:solidFill>
            <a:srgbClr val="2B34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809F9B-F295-4B4B-B449-C6AA1C47DCD1}"/>
              </a:ext>
            </a:extLst>
          </p:cNvPr>
          <p:cNvSpPr>
            <a:spLocks noGrp="1"/>
          </p:cNvSpPr>
          <p:nvPr/>
        </p:nvSpPr>
        <p:spPr>
          <a:xfrm>
            <a:off x="1466850" y="400050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Product templates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3112F8-D1BD-407B-B8FA-2811B7AD97A8}"/>
              </a:ext>
            </a:extLst>
          </p:cNvPr>
          <p:cNvSpPr>
            <a:spLocks noGrp="1"/>
          </p:cNvSpPr>
          <p:nvPr/>
        </p:nvSpPr>
        <p:spPr>
          <a:xfrm>
            <a:off x="4000500" y="400050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first official template set and browser E2E remain the next productization gate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475290-EF0C-42B4-A615-50F00DEF7F3E}"/>
              </a:ext>
            </a:extLst>
          </p:cNvPr>
          <p:cNvSpPr>
            <a:spLocks noGrp="1"/>
          </p:cNvSpPr>
          <p:nvPr/>
        </p:nvSpPr>
        <p:spPr>
          <a:xfrm>
            <a:off x="9715500" y="3981450"/>
            <a:ext cx="819150" cy="266700"/>
          </a:xfrm>
          <a:prstGeom prst="rect">
            <a:avLst/>
          </a:prstGeom>
          <a:solidFill>
            <a:srgbClr val="FFB86B"/>
          </a:solidFill>
          <a:ln w="0">
            <a:solidFill>
              <a:srgbClr val="FFB86B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3200724-40BC-4A03-93FB-2A3E1B580369}"/>
              </a:ext>
            </a:extLst>
          </p:cNvPr>
          <p:cNvSpPr>
            <a:spLocks noGrp="1"/>
          </p:cNvSpPr>
          <p:nvPr/>
        </p:nvSpPr>
        <p:spPr>
          <a:xfrm>
            <a:off x="9715500" y="4048125"/>
            <a:ext cx="81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90B1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90B10"/>
                </a:solidFill>
                <a:latin typeface="Aptos Mono"/>
                <a:ea typeface="Aptos Mono"/>
                <a:cs typeface="Aptos Mono"/>
              </a:rPr>
              <a:t>NEXT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73772F9-B907-4DAC-B14E-7F075E182BA8}"/>
              </a:ext>
            </a:extLst>
          </p:cNvPr>
          <p:cNvSpPr>
            <a:spLocks noGrp="1"/>
          </p:cNvSpPr>
          <p:nvPr/>
        </p:nvSpPr>
        <p:spPr>
          <a:xfrm>
            <a:off x="1352550" y="4438650"/>
            <a:ext cx="9486900" cy="9525"/>
          </a:xfrm>
          <a:prstGeom prst="rect">
            <a:avLst/>
          </a:prstGeom>
          <a:solidFill>
            <a:srgbClr val="2B34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31F922-CD17-4E00-8D68-8592BDEE0BDF}"/>
              </a:ext>
            </a:extLst>
          </p:cNvPr>
          <p:cNvSpPr>
            <a:spLocks noGrp="1"/>
          </p:cNvSpPr>
          <p:nvPr/>
        </p:nvSpPr>
        <p:spPr>
          <a:xfrm>
            <a:off x="1466850" y="45529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Production launch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005E911-700B-4FB7-A0F2-DC46117EB67D}"/>
              </a:ext>
            </a:extLst>
          </p:cNvPr>
          <p:cNvSpPr>
            <a:spLocks noGrp="1"/>
          </p:cNvSpPr>
          <p:nvPr/>
        </p:nvSpPr>
        <p:spPr>
          <a:xfrm>
            <a:off x="4000500" y="455295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staging, observability, load/chaos drills, go-live runbook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05BF06D-806E-4B80-9043-243B437C9385}"/>
              </a:ext>
            </a:extLst>
          </p:cNvPr>
          <p:cNvSpPr>
            <a:spLocks noGrp="1"/>
          </p:cNvSpPr>
          <p:nvPr/>
        </p:nvSpPr>
        <p:spPr>
          <a:xfrm>
            <a:off x="9715500" y="4533900"/>
            <a:ext cx="819150" cy="266700"/>
          </a:xfrm>
          <a:prstGeom prst="rect">
            <a:avLst/>
          </a:prstGeom>
          <a:solidFill>
            <a:srgbClr val="FFB86B"/>
          </a:solidFill>
          <a:ln w="0">
            <a:solidFill>
              <a:srgbClr val="FFB86B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B900A1-7308-48AC-8397-7A4E8D24BAF2}"/>
              </a:ext>
            </a:extLst>
          </p:cNvPr>
          <p:cNvSpPr>
            <a:spLocks noGrp="1"/>
          </p:cNvSpPr>
          <p:nvPr/>
        </p:nvSpPr>
        <p:spPr>
          <a:xfrm>
            <a:off x="9715500" y="4600575"/>
            <a:ext cx="81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90B10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90B10"/>
                </a:solidFill>
                <a:latin typeface="Aptos Mono"/>
                <a:ea typeface="Aptos Mono"/>
                <a:cs typeface="Aptos Mono"/>
              </a:rPr>
              <a:t>NEXT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B98C53E-E937-4CEE-A237-5ABE9DD625A8}"/>
              </a:ext>
            </a:extLst>
          </p:cNvPr>
          <p:cNvSpPr>
            <a:spLocks noGrp="1"/>
          </p:cNvSpPr>
          <p:nvPr/>
        </p:nvSpPr>
        <p:spPr>
          <a:xfrm>
            <a:off x="1924050" y="5715000"/>
            <a:ext cx="8343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4DD8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DD8FF"/>
                </a:solidFill>
                <a:latin typeface="Aptos"/>
                <a:ea typeface="Aptos"/>
                <a:cs typeface="Aptos"/>
              </a:rPr>
              <a:t>Positioning: strong product foundation, not yet a polished public launch package.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549F4F3-E08E-4BDA-ADF0-D8595BC3F35E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723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0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9"/>
                </a:solidFill>
                <a:latin typeface="Aptos"/>
                <a:ea typeface="Aptos"/>
                <a:cs typeface="Aptos"/>
              </a:rPr>
              <a:t>Source: project docs, Graphify findings, and inspected repo structure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132FB3D-AC6B-4FD4-8631-005BD2A722E9}"/>
              </a:ext>
            </a:extLst>
          </p:cNvPr>
          <p:cNvSpPr>
            <a:spLocks noGrp="1"/>
          </p:cNvSpPr>
          <p:nvPr/>
        </p:nvSpPr>
        <p:spPr>
          <a:xfrm>
            <a:off x="11296650" y="63817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72706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0637944-0AED-48F5-9F07-16062ED9EB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4E75B5-DB85-41D5-8278-7A93893A95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marker">
            <a:extLst>
              <a:ext uri="{FF2B5EF4-FFF2-40B4-BE49-F238E27FC236}">
                <a16:creationId xmlns:a16="http://schemas.microsoft.com/office/drawing/2014/main" id="{EACEB3F1-7858-40E5-9BE6-FD03B234820C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400050" cy="28575"/>
          </a:xfrm>
          <a:prstGeom prst="rect">
            <a:avLst/>
          </a:prstGeom>
          <a:solidFill>
            <a:srgbClr val="4D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1-label">
            <a:extLst>
              <a:ext uri="{FF2B5EF4-FFF2-40B4-BE49-F238E27FC236}">
                <a16:creationId xmlns:a16="http://schemas.microsoft.com/office/drawing/2014/main" id="{CF79F4FD-13A9-4683-AB6A-FE04DB8611B6}"/>
              </a:ext>
            </a:extLst>
          </p:cNvPr>
          <p:cNvSpPr>
            <a:spLocks noGrp="1"/>
          </p:cNvSpPr>
          <p:nvPr/>
        </p:nvSpPr>
        <p:spPr>
          <a:xfrm>
            <a:off x="1104900" y="40957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B3C7"/>
                </a:solidFill>
                <a:latin typeface="Aptos Mono"/>
                <a:ea typeface="Aptos Mono"/>
                <a:cs typeface="Aptos Mono"/>
              </a:rPr>
              <a:t>NEXT MOVES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B7AD04-2836-469F-A457-443504E0A463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8572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The next product step is packaging the engine into repeatable, sellable workflows.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4DF19A-EE2E-4405-8E80-99E40BB1D8E9}"/>
              </a:ext>
            </a:extLst>
          </p:cNvPr>
          <p:cNvSpPr>
            <a:spLocks noGrp="1"/>
          </p:cNvSpPr>
          <p:nvPr/>
        </p:nvSpPr>
        <p:spPr>
          <a:xfrm>
            <a:off x="952500" y="2095500"/>
            <a:ext cx="4476750" cy="990600"/>
          </a:xfrm>
          <a:prstGeom prst="rect">
            <a:avLst/>
          </a:prstGeom>
          <a:solidFill>
            <a:srgbClr val="0F1727"/>
          </a:solidFill>
          <a:ln w="9525">
            <a:solidFill>
              <a:srgbClr val="4DD8F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27CC5B-385E-4545-95A1-782A5436EC61}"/>
              </a:ext>
            </a:extLst>
          </p:cNvPr>
          <p:cNvSpPr>
            <a:spLocks noGrp="1"/>
          </p:cNvSpPr>
          <p:nvPr/>
        </p:nvSpPr>
        <p:spPr>
          <a:xfrm>
            <a:off x="952500" y="2095500"/>
            <a:ext cx="47625" cy="990600"/>
          </a:xfrm>
          <a:prstGeom prst="rect">
            <a:avLst/>
          </a:prstGeom>
          <a:solidFill>
            <a:srgbClr val="4DD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0894DD-D4F2-49EF-A501-A7A1D885B31E}"/>
              </a:ext>
            </a:extLst>
          </p:cNvPr>
          <p:cNvSpPr>
            <a:spLocks noGrp="1"/>
          </p:cNvSpPr>
          <p:nvPr/>
        </p:nvSpPr>
        <p:spPr>
          <a:xfrm>
            <a:off x="1143000" y="2238375"/>
            <a:ext cx="413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Template productization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DD1D24-177C-4347-BBC0-C9F3579E0250}"/>
              </a:ext>
            </a:extLst>
          </p:cNvPr>
          <p:cNvSpPr>
            <a:spLocks noGrp="1"/>
          </p:cNvSpPr>
          <p:nvPr/>
        </p:nvSpPr>
        <p:spPr>
          <a:xfrm>
            <a:off x="1143000" y="2514600"/>
            <a:ext cx="4133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Ship first official workflow templates with browser E2E: invoice, document review, RFQ, BOQ, progress claim.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6EB4E2-34E5-4B06-B574-5B6F110DB76B}"/>
              </a:ext>
            </a:extLst>
          </p:cNvPr>
          <p:cNvSpPr>
            <a:spLocks noGrp="1"/>
          </p:cNvSpPr>
          <p:nvPr/>
        </p:nvSpPr>
        <p:spPr>
          <a:xfrm>
            <a:off x="6143625" y="2095500"/>
            <a:ext cx="4476750" cy="990600"/>
          </a:xfrm>
          <a:prstGeom prst="rect">
            <a:avLst/>
          </a:prstGeom>
          <a:solidFill>
            <a:srgbClr val="0F1727"/>
          </a:solidFill>
          <a:ln w="9525">
            <a:solidFill>
              <a:srgbClr val="BFA7F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8824D9-6AA2-4809-9C7C-65B457A524DC}"/>
              </a:ext>
            </a:extLst>
          </p:cNvPr>
          <p:cNvSpPr>
            <a:spLocks noGrp="1"/>
          </p:cNvSpPr>
          <p:nvPr/>
        </p:nvSpPr>
        <p:spPr>
          <a:xfrm>
            <a:off x="6143625" y="2095500"/>
            <a:ext cx="47625" cy="990600"/>
          </a:xfrm>
          <a:prstGeom prst="rect">
            <a:avLst/>
          </a:prstGeom>
          <a:solidFill>
            <a:srgbClr val="BFA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5CFA62-02B3-49E6-904C-840BD9791F8D}"/>
              </a:ext>
            </a:extLst>
          </p:cNvPr>
          <p:cNvSpPr>
            <a:spLocks noGrp="1"/>
          </p:cNvSpPr>
          <p:nvPr/>
        </p:nvSpPr>
        <p:spPr>
          <a:xfrm>
            <a:off x="6334125" y="2238375"/>
            <a:ext cx="413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Marketplace layer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FEA67C-C1AB-4272-85CE-33E429D4F7AF}"/>
              </a:ext>
            </a:extLst>
          </p:cNvPr>
          <p:cNvSpPr>
            <a:spLocks noGrp="1"/>
          </p:cNvSpPr>
          <p:nvPr/>
        </p:nvSpPr>
        <p:spPr>
          <a:xfrm>
            <a:off x="6334125" y="2514600"/>
            <a:ext cx="4133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Surface Knowledge Packs and Catalogue Providers without renaming technical data-pack identifiers.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A369FC-BD5E-4036-A50A-72B04E2EEE52}"/>
              </a:ext>
            </a:extLst>
          </p:cNvPr>
          <p:cNvSpPr>
            <a:spLocks noGrp="1"/>
          </p:cNvSpPr>
          <p:nvPr/>
        </p:nvSpPr>
        <p:spPr>
          <a:xfrm>
            <a:off x="952500" y="3524250"/>
            <a:ext cx="4476750" cy="990600"/>
          </a:xfrm>
          <a:prstGeom prst="rect">
            <a:avLst/>
          </a:prstGeom>
          <a:solidFill>
            <a:srgbClr val="0F1727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D18120-12CC-4EFC-8A3B-092F3DC0C540}"/>
              </a:ext>
            </a:extLst>
          </p:cNvPr>
          <p:cNvSpPr>
            <a:spLocks noGrp="1"/>
          </p:cNvSpPr>
          <p:nvPr/>
        </p:nvSpPr>
        <p:spPr>
          <a:xfrm>
            <a:off x="952500" y="3524250"/>
            <a:ext cx="47625" cy="990600"/>
          </a:xfrm>
          <a:prstGeom prst="rect">
            <a:avLst/>
          </a:prstGeom>
          <a:solidFill>
            <a:srgbClr val="6EE7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D14A6F-C3E7-48C3-8229-48ED13F2E5C2}"/>
              </a:ext>
            </a:extLst>
          </p:cNvPr>
          <p:cNvSpPr>
            <a:spLocks noGrp="1"/>
          </p:cNvSpPr>
          <p:nvPr/>
        </p:nvSpPr>
        <p:spPr>
          <a:xfrm>
            <a:off x="1143000" y="3667125"/>
            <a:ext cx="413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Operational launch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A3F89D-78EA-4714-B592-127B52A58EA8}"/>
              </a:ext>
            </a:extLst>
          </p:cNvPr>
          <p:cNvSpPr>
            <a:spLocks noGrp="1"/>
          </p:cNvSpPr>
          <p:nvPr/>
        </p:nvSpPr>
        <p:spPr>
          <a:xfrm>
            <a:off x="1143000" y="3943350"/>
            <a:ext cx="4133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Staging, observability, Redis verification, queue drills, Sentry, runbook, production smoke tests.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C963A7-4259-4962-A810-44D5BB69DECA}"/>
              </a:ext>
            </a:extLst>
          </p:cNvPr>
          <p:cNvSpPr>
            <a:spLocks noGrp="1"/>
          </p:cNvSpPr>
          <p:nvPr/>
        </p:nvSpPr>
        <p:spPr>
          <a:xfrm>
            <a:off x="6143625" y="3524250"/>
            <a:ext cx="4476750" cy="990600"/>
          </a:xfrm>
          <a:prstGeom prst="rect">
            <a:avLst/>
          </a:prstGeom>
          <a:solidFill>
            <a:srgbClr val="0F1727"/>
          </a:solidFill>
          <a:ln w="9525">
            <a:solidFill>
              <a:srgbClr val="FFB86B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FCC9B2-5C9C-4767-A6EE-4115A16C919A}"/>
              </a:ext>
            </a:extLst>
          </p:cNvPr>
          <p:cNvSpPr>
            <a:spLocks noGrp="1"/>
          </p:cNvSpPr>
          <p:nvPr/>
        </p:nvSpPr>
        <p:spPr>
          <a:xfrm>
            <a:off x="6143625" y="3524250"/>
            <a:ext cx="47625" cy="990600"/>
          </a:xfrm>
          <a:prstGeom prst="rect">
            <a:avLst/>
          </a:prstGeom>
          <a:solidFill>
            <a:srgbClr val="FFB8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856D8C-71E3-4D25-9920-EC632C37F41F}"/>
              </a:ext>
            </a:extLst>
          </p:cNvPr>
          <p:cNvSpPr>
            <a:spLocks noGrp="1"/>
          </p:cNvSpPr>
          <p:nvPr/>
        </p:nvSpPr>
        <p:spPr>
          <a:xfrm>
            <a:off x="6334125" y="3667125"/>
            <a:ext cx="4133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Commercial edition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EE9D74-0CF8-45A7-9D8D-35E3762A151A}"/>
              </a:ext>
            </a:extLst>
          </p:cNvPr>
          <p:cNvSpPr>
            <a:spLocks noGrp="1"/>
          </p:cNvSpPr>
          <p:nvPr/>
        </p:nvSpPr>
        <p:spPr>
          <a:xfrm>
            <a:off x="6334125" y="3943350"/>
            <a:ext cx="4133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Contractor/QS workflows become the first proof market, while the engine remains universal.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63903C-3AAA-4A67-A467-BCD4B06528AF}"/>
              </a:ext>
            </a:extLst>
          </p:cNvPr>
          <p:cNvSpPr>
            <a:spLocks noGrp="1"/>
          </p:cNvSpPr>
          <p:nvPr/>
        </p:nvSpPr>
        <p:spPr>
          <a:xfrm>
            <a:off x="2809875" y="5314950"/>
            <a:ext cx="6572250" cy="514350"/>
          </a:xfrm>
          <a:prstGeom prst="rect">
            <a:avLst/>
          </a:prstGeom>
          <a:solidFill>
            <a:srgbClr val="122034"/>
          </a:solidFill>
          <a:ln w="9525">
            <a:solidFill>
              <a:srgbClr val="4DD8FF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3A003F-8579-4AA4-A93C-B2056AD447C3}"/>
              </a:ext>
            </a:extLst>
          </p:cNvPr>
          <p:cNvSpPr>
            <a:spLocks noGrp="1"/>
          </p:cNvSpPr>
          <p:nvPr/>
        </p:nvSpPr>
        <p:spPr>
          <a:xfrm>
            <a:off x="3095625" y="5467350"/>
            <a:ext cx="600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Decision frame: build the launch package around one excellent workflow story, then expand the pack catalogue around proven use.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266F8F-AA54-4AD4-9118-88128C58EE03}"/>
              </a:ext>
            </a:extLst>
          </p:cNvPr>
          <p:cNvSpPr>
            <a:spLocks noGrp="1"/>
          </p:cNvSpPr>
          <p:nvPr/>
        </p:nvSpPr>
        <p:spPr>
          <a:xfrm>
            <a:off x="628650" y="6477000"/>
            <a:ext cx="723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0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9"/>
                </a:solidFill>
                <a:latin typeface="Aptos"/>
                <a:ea typeface="Aptos"/>
                <a:cs typeface="Aptos"/>
              </a:rPr>
              <a:t>Source: project docs, Graphify findings, and inspected repo structure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9B4C159-DA42-431F-8F5C-760B8EB0AFDC}"/>
              </a:ext>
            </a:extLst>
          </p:cNvPr>
          <p:cNvSpPr>
            <a:spLocks noGrp="1"/>
          </p:cNvSpPr>
          <p:nvPr/>
        </p:nvSpPr>
        <p:spPr>
          <a:xfrm>
            <a:off x="11296650" y="63817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089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8342080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990</Words>
  <Application>Microsoft Office PowerPoint</Application>
  <DocSecurity>0</DocSecurity>
  <PresentationFormat>Widescreen</PresentationFormat>
  <Paragraphs>164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kamal latif</cp:lastModifiedBy>
  <cp:revision>1</cp:revision>
  <dcterms:created xsi:type="dcterms:W3CDTF">2026-07-08T04:57:47Z</dcterms:created>
  <dcterms:modified xsi:type="dcterms:W3CDTF">2026-07-08T06:16:58Z</dcterms:modified>
</cp:coreProperties>
</file>