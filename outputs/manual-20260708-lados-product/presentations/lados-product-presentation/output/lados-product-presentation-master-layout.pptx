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ff125c12c4e52" /><Relationship Type="http://schemas.openxmlformats.org/officeDocument/2006/relationships/extended-properties" Target="/docProps/app.xml" Id="R52a8a274fe614c4e" /><Relationship Type="http://schemas.openxmlformats.org/officeDocument/2006/relationships/officeDocument" Target="/ppt/presentation.xml" Id="R1f02d7cc8537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70b25e3d04ca9"/>
  </p:sldMasterIdLst>
  <p:notesMasterIdLst>
    <p:notesMasterId xmlns:r="http://schemas.openxmlformats.org/officeDocument/2006/relationships" r:id="Ra832e317a8714b56"/>
  </p:notesMasterIdLst>
  <p:sldIdLst>
    <p:sldId xmlns:r="http://schemas.openxmlformats.org/officeDocument/2006/relationships" id="256" r:id="Rb2e72d543b874dbe"/>
    <p:sldId xmlns:r="http://schemas.openxmlformats.org/officeDocument/2006/relationships" id="257" r:id="Rb99c2ebca52641ee"/>
    <p:sldId xmlns:r="http://schemas.openxmlformats.org/officeDocument/2006/relationships" id="258" r:id="R52380e9193b243cf"/>
    <p:sldId xmlns:r="http://schemas.openxmlformats.org/officeDocument/2006/relationships" id="259" r:id="Rec45386983084dd6"/>
    <p:sldId xmlns:r="http://schemas.openxmlformats.org/officeDocument/2006/relationships" id="260" r:id="R27c3ca04bac04531"/>
    <p:sldId xmlns:r="http://schemas.openxmlformats.org/officeDocument/2006/relationships" id="261" r:id="R29fe5853d4204bfe"/>
    <p:sldId xmlns:r="http://schemas.openxmlformats.org/officeDocument/2006/relationships" id="262" r:id="Rbf6cc387995f4248"/>
    <p:sldId xmlns:r="http://schemas.openxmlformats.org/officeDocument/2006/relationships" id="263" r:id="Ree8f2203e31f4ac7"/>
    <p:sldId xmlns:r="http://schemas.openxmlformats.org/officeDocument/2006/relationships" id="264" r:id="Rb5cdae25f49f4db7"/>
    <p:sldId xmlns:r="http://schemas.openxmlformats.org/officeDocument/2006/relationships" id="265" r:id="R09bb67e771b945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70b25e3d04ca9" /><Relationship Type="http://schemas.openxmlformats.org/officeDocument/2006/relationships/theme" Target="/ppt/theme/theme1.xml" Id="R1b7d1721e1d14eba" /><Relationship Type="http://schemas.openxmlformats.org/officeDocument/2006/relationships/notesMaster" Target="/ppt/notesMasters/notesMaster1.xml" Id="Ra832e317a8714b56" /><Relationship Type="http://schemas.openxmlformats.org/officeDocument/2006/relationships/presProps" Target="/ppt/presProps.xml" Id="R2a57f7f13ccd4ff1" /><Relationship Type="http://schemas.openxmlformats.org/officeDocument/2006/relationships/viewProps" Target="/ppt/viewProps.xml" Id="Ra602904d591744f3" /><Relationship Type="http://schemas.openxmlformats.org/officeDocument/2006/relationships/tableStyles" Target="/ppt/tableStyles.xml" Id="R243ee52324ec499d" /><Relationship Type="http://schemas.openxmlformats.org/officeDocument/2006/relationships/slide" Target="/ppt/slides/slide1.xml" Id="Rb2e72d543b874dbe" /><Relationship Type="http://schemas.openxmlformats.org/officeDocument/2006/relationships/slide" Target="/ppt/slides/slide2.xml" Id="Rb99c2ebca52641ee" /><Relationship Type="http://schemas.openxmlformats.org/officeDocument/2006/relationships/slide" Target="/ppt/slides/slide3.xml" Id="R52380e9193b243cf" /><Relationship Type="http://schemas.openxmlformats.org/officeDocument/2006/relationships/slide" Target="/ppt/slides/slide4.xml" Id="Rec45386983084dd6" /><Relationship Type="http://schemas.openxmlformats.org/officeDocument/2006/relationships/slide" Target="/ppt/slides/slide5.xml" Id="R27c3ca04bac04531" /><Relationship Type="http://schemas.openxmlformats.org/officeDocument/2006/relationships/slide" Target="/ppt/slides/slide6.xml" Id="R29fe5853d4204bfe" /><Relationship Type="http://schemas.openxmlformats.org/officeDocument/2006/relationships/slide" Target="/ppt/slides/slide7.xml" Id="Rbf6cc387995f4248" /><Relationship Type="http://schemas.openxmlformats.org/officeDocument/2006/relationships/slide" Target="/ppt/slides/slide8.xml" Id="Ree8f2203e31f4ac7" /><Relationship Type="http://schemas.openxmlformats.org/officeDocument/2006/relationships/slide" Target="/ppt/slides/slide9.xml" Id="Rb5cdae25f49f4db7" /><Relationship Type="http://schemas.openxmlformats.org/officeDocument/2006/relationships/slide" Target="/ppt/slides/slide10.xml" Id="R09bb67e771b9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db6e145da1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d136b4278a4da6" /><Relationship Type="http://schemas.openxmlformats.org/officeDocument/2006/relationships/notesMaster" Target="/ppt/notesMasters/notesMaster1.xml" Id="Re0761e3c54f541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366d4e74c462d" /><Relationship Type="http://schemas.openxmlformats.org/officeDocument/2006/relationships/notesMaster" Target="/ppt/notesMasters/notesMaster1.xml" Id="R8444c2f3b258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5a48f53a84eb7" /><Relationship Type="http://schemas.openxmlformats.org/officeDocument/2006/relationships/notesMaster" Target="/ppt/notesMasters/notesMaster1.xml" Id="R8f1d83c51c2040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684d9f3f64da5" /><Relationship Type="http://schemas.openxmlformats.org/officeDocument/2006/relationships/notesMaster" Target="/ppt/notesMasters/notesMaster1.xml" Id="R8c5b183c5d64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25de882abe4112" /><Relationship Type="http://schemas.openxmlformats.org/officeDocument/2006/relationships/notesMaster" Target="/ppt/notesMasters/notesMaster1.xml" Id="R44081c7daedc4a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7966c588f4993" /><Relationship Type="http://schemas.openxmlformats.org/officeDocument/2006/relationships/notesMaster" Target="/ppt/notesMasters/notesMaster1.xml" Id="Re09147110c584b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fe7d9ce92a4864" /><Relationship Type="http://schemas.openxmlformats.org/officeDocument/2006/relationships/notesMaster" Target="/ppt/notesMasters/notesMaster1.xml" Id="R283657326d0b43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e52220ac934547" /><Relationship Type="http://schemas.openxmlformats.org/officeDocument/2006/relationships/notesMaster" Target="/ppt/notesMasters/notesMaster1.xml" Id="R6b18556e90634e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ae6819562a4071" /><Relationship Type="http://schemas.openxmlformats.org/officeDocument/2006/relationships/notesMaster" Target="/ppt/notesMasters/notesMaster1.xml" Id="R512e566f0df84b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3bcfbee8c34503" /><Relationship Type="http://schemas.openxmlformats.org/officeDocument/2006/relationships/notesMaster" Target="/ppt/notesMasters/notesMaster1.xml" Id="R9d412445d200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0be62f0df4f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8301cc1d54e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[object Object]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f1adb03ef642a4" /><Relationship Type="http://schemas.openxmlformats.org/officeDocument/2006/relationships/slideLayout" Target="/ppt/slideLayouts/slideLayout2.xml" Id="Ra5e60caffec34f94" /><Relationship Type="http://schemas.openxmlformats.org/officeDocument/2006/relationships/slideLayout" Target="/ppt/slideLayouts/slideLayout3.xml" Id="R71201fb60db5404e" /></Relationships>
</file>

<file path=ppt/slideMasters/slideMaster1.xml><?xml version="1.0" encoding="utf-8"?>
<p:sldMaster xmlns:p="http://schemas.openxmlformats.org/presentationml/2006/main">
  <p:cSld name="[object Object]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60caffec34f94"/>
    <p:sldLayoutId xmlns:r="http://schemas.openxmlformats.org/officeDocument/2006/relationships" id="2147483650" r:id="R71201fb60db5404e"/>
  </p:sldLayoutIdLst>
  <p:txStyles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ee3cc68290440f" /><Relationship Type="http://schemas.openxmlformats.org/officeDocument/2006/relationships/notesSlide" Target="/ppt/notesSlides/notesSlide1.xml" Id="Reb51f85f22e343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79a7c208144392" /><Relationship Type="http://schemas.openxmlformats.org/officeDocument/2006/relationships/notesSlide" Target="/ppt/notesSlides/notesSlide2.xml" Id="Ra7f288205254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5ceb99abff42ae" /><Relationship Type="http://schemas.openxmlformats.org/officeDocument/2006/relationships/notesSlide" Target="/ppt/notesSlides/notesSlide3.xml" Id="Rb48005c77994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4ae37b7c5048bf" /><Relationship Type="http://schemas.openxmlformats.org/officeDocument/2006/relationships/notesSlide" Target="/ppt/notesSlides/notesSlide4.xml" Id="R0970c92c64f1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35438557244161" /><Relationship Type="http://schemas.openxmlformats.org/officeDocument/2006/relationships/notesSlide" Target="/ppt/notesSlides/notesSlide5.xml" Id="R97922a3d98194e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14e4a9e5474bd7" /><Relationship Type="http://schemas.openxmlformats.org/officeDocument/2006/relationships/notesSlide" Target="/ppt/notesSlides/notesSlide6.xml" Id="R2a993d94d4a646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148f182d2f4ab3" /><Relationship Type="http://schemas.openxmlformats.org/officeDocument/2006/relationships/notesSlide" Target="/ppt/notesSlides/notesSlide7.xml" Id="R44200fe8917b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5f00a99bf745d0" /><Relationship Type="http://schemas.openxmlformats.org/officeDocument/2006/relationships/notesSlide" Target="/ppt/notesSlides/notesSlide8.xml" Id="R0af7b96c817b4f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c89a5b00a54212" /><Relationship Type="http://schemas.openxmlformats.org/officeDocument/2006/relationships/notesSlide" Target="/ppt/notesSlides/notesSlide9.xml" Id="Raf1c039c09dc4a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cbebed88ad4b62" /><Relationship Type="http://schemas.openxmlformats.org/officeDocument/2006/relationships/notesSlide" Target="/ppt/notesSlides/notesSlide10.xml" Id="Rcc6e8be5ad134e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840FA-DEBF-436D-9954-B6965A6E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FEF77-D2DB-4AF2-B94F-703AF69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PRODUCT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9AFD-DEF3-44B8-8ECA-974F6B73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7FB"/>
                </a:solidFill>
              </a:defRPr>
            </a:pPr>
            <a:r>
              <a:rPr sz="39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 is the operating layer for governed business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DA852-C4E1-46B9-AA0A-5FD0617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3C7"/>
                </a:solidFill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pack-based platform where workflows, humans, AI, resources, and audit trails execute through one shared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8FDF0-BC11-4572-96C1-AC5539D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1"/>
          </a:solidFill>
          <a:ln xmlns:a="http://schemas.openxmlformats.org/drawingml/2006/main" w="9525">
            <a:solidFill>
              <a:srgbClr val="2B34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C8172-4B64-4C1F-8630-39AD356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362075"/>
            <a:ext cx="2247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D"/>
          </a:solidFill>
          <a:ln xmlns:a="http://schemas.openxmlformats.org/drawingml/2006/main" w="19050">
            <a:solidFill>
              <a:srgbClr val="4DD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C2D7E-84FA-4DE4-8FF9-5160787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1352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07EEB-90AA-430E-A39A-FBF1EE65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02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1D521-E93D-4380-99E7-5BD6573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CBE43-49CF-426E-A91B-B1A1081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Universal workflow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FFA7E-D9F2-41AD-8A55-82AE83FA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DD8FF"/>
                </a:solidFill>
              </a:defRPr>
            </a:pPr>
            <a:r>
              <a: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rPr>
              <a:t>21+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EB2CB-BAE4-4380-A3C1-6907A6E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official capability packs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9672-301B-4A00-B268-04DAE6B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8BF5E-A079-4C10-A8C2-2A0E04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Phase 22 sprints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8D247-F53C-465B-B85E-67E5AE2D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DD8FF"/>
                </a:solidFill>
              </a:defRPr>
            </a:pPr>
            <a:r>
              <a: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2B353-4C20-4FCB-A67B-5EEBC112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197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engine for every 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70D4-0946-4379-9574-5C4AFE1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9"/>
                </a:solidFill>
              </a:defRPr>
            </a:pPr>
            <a:r>
              <a:rPr sz="90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Built from project documentation and Graphify code navigation; no unverified logo or screenshot assets used.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FDFC1-D2B7-4514-92E9-357DEC8F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83616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A28E0-6318-42B8-BA0E-B771151A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3C7FD-E0AE-4BD0-B12E-AB8F264A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SYSTEM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BEEAF-2F6E-4680-A385-55166550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52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platform separates workflow logic from industry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63B9A-0C27-4E0B-8B9D-BD98F88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733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37FB9-7707-45CF-A79A-E81AC57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AE23C-5355-41EF-B897-3E4877EC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699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Experience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DCF6A-69BB-4556-B4A2-E903D78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19350"/>
            <a:ext cx="699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Next.js app: canvas, approvals, resources, marketplace, operations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816B6-5969-46D0-9496-C0FD8EC3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86050"/>
            <a:ext cx="6991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5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0EAAD-A137-4B58-A7DB-F6D5B55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860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9950A-B433-457E-8471-68BB1738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28925"/>
            <a:ext cx="664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API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29E20-19E4-44AB-B9BE-34CCCB3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05150"/>
            <a:ext cx="6648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NestJS modules: workflow, execution, approvals, pack registry, analytics,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2034E-A32B-4C11-BE91-8F43C68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71850"/>
            <a:ext cx="664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F22D5-62C3-4A8C-888F-6ADAC2CE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718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2FBD3-2825-4290-A294-7F1FCD8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14725"/>
            <a:ext cx="630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Execution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E9EEE-2B26-4977-8A71-8F4A1E73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90950"/>
            <a:ext cx="630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Runner, queue fallback, port-aware input resolution, state, event, audit,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E044A-407E-4688-9E5C-6B41B469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57650"/>
            <a:ext cx="6305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625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A325D-34F7-4810-87A9-0FEDB30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576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0E162-E17B-4C1C-91D8-57E26C8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00525"/>
            <a:ext cx="596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Capability packs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47924-4CE2-4AE2-889D-A0477FA7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76750"/>
            <a:ext cx="596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Official L0/L1/L2 packs: foundation, human work, document, finance, QS, procurement, asset, payroll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ACC0B-16D9-445B-BFF7-E3D90795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596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A8B3C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1F620-AD6F-4705-A2A4-92665F5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A0655-F261-4B7B-93F1-0004B997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86325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Data foundation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308B7-78AF-4BA1-B5CA-CD9EB74B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162550"/>
            <a:ext cx="561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Supabase resources, workflow versions, runs, tasks, rollups, storage, knowledge/catalogue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227C1-0B3A-4A21-AE7F-DF1B5BC4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667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1"/>
          </a:solidFill>
          <a:ln xmlns:a="http://schemas.openxmlformats.org/drawingml/2006/main" w="9525">
            <a:solidFill>
              <a:srgbClr val="2B344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4BA9D-A723-4AA5-8393-DA2C6BD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D6F69-8E24-4147-956B-B1A909B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construction workflow, a procurement workflow, and a payroll workflow all inherit the same execution, audit, approval, resource, and retention mechanics.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D5B75-5DCA-4FCE-B0D4-DF2F299D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4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81687-1D4D-4E80-A023-9A1DF05F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D8FF"/>
                </a:solidFill>
              </a:defRPr>
            </a:pPr>
            <a:r>
              <a:rPr sz="975" b="1">
                <a:solidFill>
                  <a:srgbClr val="4DD8FF"/>
                </a:solidFill>
                <a:latin typeface="Aptos"/>
                <a:ea typeface="Aptos"/>
                <a:cs typeface="Aptos"/>
              </a:rPr>
              <a:t>Foundation first; domain packs second.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994FB-4C4F-4A3E-B76F-95E5875E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6819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FD93D-2D31-4A4D-931F-69ABE1F9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8EE88-CC48-4F29-8A9C-6CC08E5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PACK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C8054-DAD9-4967-BE3B-E1549B4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90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Packs turn domain expertise into installable execution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4EC47-BD21-48A5-9E08-B3549AE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4"/>
          </a:solidFill>
          <a:ln xmlns:a="http://schemas.openxmlformats.org/drawingml/2006/main" w="19050">
            <a:solidFill>
              <a:srgbClr val="4DD8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9BB48-49E3-44A6-AA97-0AE20151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432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</a:t>
            </a:r>
          </a:p>
          <a:p xmlns:a="http://schemas.openxmlformats.org/drawingml/2006/main">
            <a:pPr algn="ctr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8A943-6507-4148-BDFA-DAE9A1E6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86D73-DE2B-40E1-8F79-C886206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145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Workflow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3C048-EC17-49CC-9606-369C4DA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4EFFC-B99F-4311-82F9-727E08B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C7F01-2166-4592-B755-36487C2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Human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2C33C-4B8E-43C9-926D-C7CE108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71725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3D356-F14D-4934-AC6D-62809F78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12DD7-ACF4-4785-B653-BE80C7F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145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Document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DA716-59C3-47D4-9E17-B23D9F43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76EB7-5174-4D94-9A86-E0127AED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D2AF1-49FB-44ED-89A8-F4FEBD8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814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A2060-50C5-4836-9514-4BFCD43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147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0F26D-A228-4978-9729-991BF3D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72BB4-3676-4332-A034-01854573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768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QS commercial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3FBE5-425A-460C-B829-D77CACD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4475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B3C63-C5FD-48D3-AE67-D5BFBE0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19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1C7D3-B427-4797-8115-ADEFCED4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814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Asset &amp; fleet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02C99-290F-4198-8838-F19747F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EDC9E-AA10-44F7-885B-20D9FACA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Capability packs are not just palette items. They define manifests, nodes, ports, events, config fields, and runtime executors that the engine can govern.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13E4BA-DD90-4FC8-8F7B-E8D24A7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3774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6C6F1-8ADB-4056-9DE7-5C0E020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3F866-717D-45B8-B9BD-0ABBFD9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EXECUTION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DC76E-8FBF-4BB9-A128-9E161EB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Every run follows one auditable path from trigger to outcome.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82FD1-A5B5-493F-A8F5-174360C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6CC50-4766-40EB-BF29-55F4C03A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A7FF"/>
                </a:solidFill>
              </a:defRPr>
            </a:pPr>
            <a:r>
              <a:rPr sz="1125" b="1">
                <a:solidFill>
                  <a:srgbClr val="BFA7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F60CA-40FB-46F0-A884-4DEA22C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Trigger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90596-D819-49C5-9DE3-4A6518F6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manual, schedule,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webhook,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0663F-8C96-4943-B32F-AB373A5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19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DBFE1-C56B-4095-9FD5-5749C3B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7BE1E-D390-41D8-95F9-7A0CCB1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D8FF"/>
                </a:solidFill>
              </a:defRPr>
            </a:pPr>
            <a:r>
              <a: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55373-D564-4D33-B2D2-56E7FAE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Resolve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46D46-7668-4512-9D53-161306B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bindings, inputs,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pack executors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053F8-323F-48BD-ABA7-1C80ADF7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19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15361-5AA6-427A-A9C8-2D5DEA9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9140D-C804-41AD-A61C-F7B22FF9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E7B7"/>
                </a:solidFill>
              </a:defRPr>
            </a:pPr>
            <a:r>
              <a: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8B35E-DCA7-4D2F-9564-BA36902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716D1-F019-40D9-BD0E-0C99697B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port-aware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node 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4D4E-B48D-4AAC-BF0D-34E4BFF4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29BAB-EABD-4861-8AD3-2491A9F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E5F76-E927-45CD-82A8-EF76581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6B"/>
                </a:solidFill>
              </a:defRPr>
            </a:pPr>
            <a:r>
              <a:rPr sz="1125" b="1">
                <a:solidFill>
                  <a:srgbClr val="FFB8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F80B7-B4E3-4EE8-A6A6-DF5B1D6B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6894C-781C-41CE-8E96-AF99F7C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approval or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request_input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47246-F69E-47A6-9B2C-D93195F8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769F8-121E-4774-BABD-75B1302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02674-226B-4D97-9FB6-E293CA8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D8FF"/>
                </a:solidFill>
              </a:defRPr>
            </a:pPr>
            <a:r>
              <a: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9A4FD-0BBD-4984-93A9-542D52E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A78C8-247A-4CB8-A20A-695127B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logs, events,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audit, rollups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A6B2F-67D3-4244-A856-23A6D7E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31007-F19E-4954-8ACF-D96F243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F2756-AC62-4E6D-8918-B277252A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19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E7B7"/>
                </a:solidFill>
              </a:defRPr>
            </a:pPr>
            <a:r>
              <a: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271105-0DC0-4E0B-B030-0B7A1EC7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114675"/>
            <a:ext cx="1123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5DE58-263A-41EC-8950-5C34B00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resource update</a:t>
            </a:r>
          </a:p>
          <a:p xmlns:a="http://schemas.openxmlformats.org/drawingml/2006/main">
            <a:pPr algn="l">
              <a:defRPr sz="825" b="0">
                <a:solidFill>
                  <a:srgbClr val="A8B3C7"/>
                </a:solidFill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or artifact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528332-0C2C-4FC1-B410-FD06BED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1"/>
          </a:solidFill>
          <a:ln xmlns:a="http://schemas.openxmlformats.org/drawingml/2006/main" w="9525">
            <a:solidFill>
              <a:srgbClr val="2B344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15C1D-C1A0-40C0-999F-D3024CA5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9582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3C7"/>
                </a:solidFill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queue can fall back to in-process execution, while the watchdog, analytics, and retention services keep operational state visible after the run starts.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72DD3-7933-420C-87DF-91025A9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09673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21B6C-F688-4226-83B3-09AE8CC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1BAE1-6915-4FA3-B519-233489C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HUMAN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BD4DC-31E1-4288-B361-D1F8730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Human input is a workflow primitive, not a side channel.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81014-70D1-4B1A-8960-68BE0021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249D0-0ACC-4B6D-B8C5-AE8780E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94E44-A014-4E3F-9007-453FDEDB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request_approval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20131-6F37-4B52-9679-F20BBA1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52725"/>
            <a:ext cx="2133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human decision gates commercial facts. AI remains advisory.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E3849-DE20-47CF-B6DD-44F54860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B4ABC-CE78-4D45-9450-9653368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4B4FA-B189-45F9-9D89-263807A4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request_input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528F6-169E-43DC-8CD2-620382D8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52725"/>
            <a:ext cx="2133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Structured data can be inserted or corrected mid-run with an auditable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B0ED8-9AAB-4915-B573-B03BDB82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54E6E-8EFF-436D-8C82-5655EC3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222F3-DDAB-4731-BBE4-8A06E55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delegation / escalation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E2438-5D81-4775-A1B8-B7E3D11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52725"/>
            <a:ext cx="2133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Named users, role inboxes, admin override, watchdog escalation.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CD6A0-1184-4C72-B77D-58A9EEEA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76550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2A892-8172-447B-B058-700A275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E25A8-BEF5-4936-A0F3-C665029C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00500"/>
            <a:ext cx="7886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24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DF72-CEB1-4D35-9014-E00FF611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005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One task table, two task types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9D5B5-5324-4274-BD33-F5541C86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719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approval_tasks now carries approval and input lifecycles: pending -&gt; resolved, with assignment, delegation, escalation, audit log, and resume.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F3FBB-012F-4B04-8AD3-3A49595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22595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7A415-7E8C-4AE9-8790-D1E0AA18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FB06D-3E4D-404F-886E-CFAAE66E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RESOURCE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CF748-53F5-451B-82D8-B64E230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Workspace Resources anchor workflows to real business objects.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11B7D-92F3-4A3A-A854-A3AA538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14B4-5B89-49A4-B493-0BEDFC6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39D2C-527B-45DA-969E-EB382189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3362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A5413-B37C-4BDA-AA82-1E76E77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6697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E87F9-7A7D-4219-B8E3-198106E8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87E57-0D5C-4528-86FC-A867EE9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6BD7-6FF6-49CD-ACF3-AE8E8A5E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FD0FA-262F-42D4-B25B-10F202B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6697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BOQ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74BAC-ACF0-45A3-88CF-813B4A39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E2493-9760-42BA-9C24-0B70DF8F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768F2-CAF9-402F-A1D1-004EBA8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765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A6A1F-62F9-4D54-914A-54D3C2B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099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Variation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82267-8689-4BAF-9502-923F4AC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CB7DE-81B0-4007-AC4C-5EFEB60E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Defect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F9C8E-D8BA-4140-9CC5-5420DDAC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765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5CB57-2237-4FF1-8C07-5F78E37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263C7-00C8-4F35-B0E7-E397631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86B"/>
                </a:solidFill>
              </a:defRPr>
            </a:pPr>
            <a:r>
              <a:rPr sz="1650" b="1">
                <a:solidFill>
                  <a:srgbClr val="FFB86B"/>
                </a:solidFill>
                <a:latin typeface="Aptos Display"/>
                <a:ea typeface="Aptos Display"/>
                <a:cs typeface="Aptos Display"/>
              </a:rPr>
              <a:t>Workspace Resources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0F369-4359-4FC0-8235-3C209D3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19050">
            <a:solidFill>
              <a:srgbClr val="4DD8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BDC72-B18F-4656-B184-B013713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Resource Binding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FAA4D-EDA1-49F4-8B8B-94CD4B9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workflow field key</a:t>
            </a:r>
          </a:p>
          <a:p xmlns:a="http://schemas.openxmlformats.org/drawingml/2006/main">
            <a:pPr algn="ctr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-&gt; governed resource id</a:t>
            </a:r>
          </a:p>
          <a:p xmlns:a="http://schemas.openxmlformats.org/drawingml/2006/main">
            <a:pPr algn="ctr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-&gt; resolved at run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C8DE1-5E99-4CB5-B7F3-80D7572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9A104-3C5B-4056-A383-291F994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DBBDB-F6B1-4196-A724-58FFDBCC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4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84649-FD33-4EA2-BED0-F320802C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Execution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9636D-890F-427B-A610-D0BB905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3C7"/>
                </a:solidFill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Nodes receive validated business objects instead of loose IDs.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03681-FE02-47F2-9FB7-16F3F8F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8B3C7"/>
                </a:solidFill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This is the difference between automation that moves text around and automation that safely touches the actual business record.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716C0-8322-4C57-A223-B5F3032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0234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779CD-9704-47B0-B451-2B95D27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999B8-606C-4344-B4CD-1A58FF80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EC01C-5556-4649-8460-43BC96D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96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Phase 21/22 moved Lados from prototype to enterprise foundation.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1EFB7-825B-476A-9442-165F29BE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8707C-BFF5-4441-B64D-BE12B91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4BE25-AC8A-4B5D-A0F7-8DCACE1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0B10"/>
                </a:solidFill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D481-07F3-45FC-811B-9974B3A6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Prototype freeze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4A601-6345-46C9-AA4C-10323A9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Archived old packs; official assets become the product 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817D7-0117-45D4-B9DF-867743C3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2CF62-0B6F-41AB-A9A7-02160D5B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0B10"/>
                </a:solidFill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4B479-D72A-4AF8-A20B-9D6678CA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Official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CFA8C-7EE3-47B8-8476-5C288BE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33875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Manifest loader, validator, real executors, node registry.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4A3B8-8444-408E-9545-3D6C49D2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FE73A-B55E-4ABE-AC0F-0C5494F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0B10"/>
                </a:solidFill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6EB36-0482-4E7B-962B-B683F76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05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Engine hardening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678B9-3E7C-477E-9A4D-6F3EC4BE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33875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Queue fallback, watchdog, SSE node status, publish regression tests.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05DA7-6EE9-4FD2-900D-CED6E164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476F-A2B6-4E20-A618-E3DF2D9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99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0B10"/>
                </a:solidFill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18C75-16FF-43FE-832C-A0CDDC03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Enterprise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48B3D-61E8-4F5F-B0C6-BE25BA89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33875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Departments, idempotency, HITL upgrade, analytics, branching.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499EE-C0F3-4AE5-BCB4-95B1B308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86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57694-E3B4-44E4-BBB5-CFE8B0B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099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0B10"/>
                </a:solidFill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E60CB-1DC4-4FC5-BCDD-777D0CCA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05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Retention 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ACB2A-FA84-4773-80A1-A0ACFE63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33875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Export-before-disposal archival service with audit summaries.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6850A-8248-4B1C-9F25-E4CAF9F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EE7B7"/>
                </a:solidFill>
              </a:defRPr>
            </a:pPr>
            <a:r>
              <a:rPr sz="1425" b="0">
                <a:solidFill>
                  <a:srgbClr val="6EE7B7"/>
                </a:solidFill>
                <a:latin typeface="Aptos"/>
                <a:ea typeface="Aptos"/>
                <a:cs typeface="Aptos"/>
              </a:rPr>
              <a:t>Current standing: Phase 22 handover notes mark S22.1-S22.5 complete/live; remaining items are productization and operational launch readiness.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6385F-8DCF-4B26-9B22-647F274E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45953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F32B1-A108-4662-BB29-55AA2F1E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8BCE0-8585-4974-91C4-5C39BD65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COMMERCIAL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22DDE-1E54-4B2F-8549-D74319FB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90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engine compounds value through efficiency, quality, and expansion.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5B1B2-C88C-4BB0-9987-A6424F8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72B5D-F081-4C0F-8C7D-30EAFBF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Workflow templates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039AD-430A-4668-938D-6B5A559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8B7C8-F9A6-430E-9C1A-701AAEB8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Faster 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9CDDC-8E52-4E5E-92FF-54E8D3D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9C70C-37FD-4006-8414-D9145BA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More trusted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ABC69-C1F6-4781-8D2A-F5191D9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1BE16-7F3D-41CD-BD25-749A485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291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Marketplace packs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476C9-C609-47FC-9DD4-A6F96A6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47397-5107-4165-AA44-E14ACB0C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Reusable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39311-7975-4B89-89D4-342EFF7D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AC43B-0583-44BB-976D-52F9F71E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291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Lower delivery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44309-F040-4E4C-B4D3-489FBB31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86A2C-1925-406F-9783-582E458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8B71F-F4B9-409F-B411-2FFA33F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67050"/>
            <a:ext cx="285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3AF0A-5FC2-4F03-9A5C-BE8799FE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B2951-60B2-4B3E-96E4-BF42F15E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285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B20B1-6CF9-496F-BA82-C285DE66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815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EC7FF-E45E-41DE-A1C3-03FD3BC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4"/>
          </a:solidFill>
          <a:ln xmlns:a="http://schemas.openxmlformats.org/drawingml/2006/main" w="19050">
            <a:solidFill>
              <a:srgbClr val="4DD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07BE6-F7F5-4838-98EC-0850CA5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Expansion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BA8AF-67F4-4C3E-BA6D-48BE246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57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3C7"/>
                </a:solidFill>
              </a:defRPr>
            </a:pPr>
            <a:r>
              <a:rPr sz="900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more packs -&gt; more workflows -&gt; more</a:t>
            </a:r>
          </a:p>
          <a:p xmlns:a="http://schemas.openxmlformats.org/drawingml/2006/main">
            <a:pPr algn="ctr">
              <a:defRPr sz="900" b="0">
                <a:solidFill>
                  <a:srgbClr val="A8B3C7"/>
                </a:solidFill>
              </a:defRPr>
            </a:pPr>
            <a:r>
              <a:rPr sz="900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governed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543F2-C54D-4941-B77F-3585107F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48818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6BA2B-D5C4-4FEC-8881-80C39E84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2FAAB-8760-474E-B2A2-5FCA4D9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44C40-62B2-4F13-A3BE-E14EB131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38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 is foundation-ready; launch readiness now depends on operational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FD87E-6D25-402B-B390-36618E9B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994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B344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F1B1C-A76A-4C3D-BF53-2FB709D7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Official packs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2A75F-FD8A-4094-B45B-A2DBA749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runtime packs built and validated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FCEB-BB11-41B2-8015-2A30C6B3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24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79E1A-6672-4E4E-A791-AF32B08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9077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0B10"/>
                </a:solidFill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F317A-9B7E-4B05-8A08-48800F9D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D5612-9083-4320-ACA7-D7E174F7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Enterprise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AA925-7C8E-4C7B-A2B1-F29AB6F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departments, analytics, HITL, branching,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81E8B-DA6F-401E-9756-037FC97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0A878-0305-40F1-B7AC-641097EA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4322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0B10"/>
                </a:solidFill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06A19-9900-417B-BB8E-C98D41D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AD09-B950-44F0-AAAB-91FB628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48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Queue 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DE897-57A4-47F1-8C29-B9CB610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fallback works; live Upstash credential verification remains a known watch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A308E-5FA8-4C75-B882-D435BD1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F3068-FE69-461C-8EE5-E22191F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9567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0B10"/>
                </a:solidFill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18B0A-32FF-4E95-B604-AAD12B3B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6F99E-3216-47A0-B74E-3DA94FA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Product templates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C6A6B-9A09-4330-8385-01946FE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first official template set and browser E2E remain the next productization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F17D8-EEFF-4E11-B595-A85B097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D7EDB-E607-4404-89A3-D7E0EEB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0B10"/>
                </a:solidFill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988C0-F8D9-44A8-A345-53FDC7C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68587-FD74-4B22-9D7C-A7E7AD92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Production launch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9E8CD-1484-4CE6-BBA3-3152B3A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staging, observability, load/chaos drills, go-live runbook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E4F23-562C-4EAC-8BD3-8EE508B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33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E9487-75A9-4C66-866D-C3CE600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00575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0B10"/>
                </a:solidFill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F8E0C-6112-44B6-A087-EFE9A4E6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15000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D8FF"/>
                </a:solidFill>
              </a:defRPr>
            </a:pPr>
            <a:r>
              <a:rPr sz="1650" b="1">
                <a:solidFill>
                  <a:srgbClr val="4DD8FF"/>
                </a:solidFill>
                <a:latin typeface="Aptos"/>
                <a:ea typeface="Aptos"/>
                <a:cs typeface="Aptos"/>
              </a:rPr>
              <a:t>Positioning: strong product foundation, not yet a polished public launch package.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86BC7-E0F0-4501-BCC1-5238071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35494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A2E75-BB04-40DD-AC1F-3B8834A9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8BB83-B902-4047-B339-86FAA71E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7"/>
                </a:solidFill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5A70B-9E3B-423C-A1F1-7494E7DA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next product step is packaging the engine into repeatable, sellable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66AC1-03EC-44C4-A97C-CE0129DF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B2AEF-C0B5-45D3-87DF-8D57FE4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DA317-4078-46D5-AFD6-E516423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Template productization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9E7C3-DC9D-43FC-9E99-036C634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Ship first official workflow templates with browser E2E: invoice, document review, RFQ, BOQ, progress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CA9F1-1A22-48DA-8B46-49EA08B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BFA7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0BB67-E553-4CBE-ABF3-FDE3F80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FE72F-70A8-45AB-B6D5-0A287290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Marketplace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5BAF2-6C34-4AB7-89BB-B9D6BF96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1460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Surface Knowledge Packs and Catalogue Providers without renaming technical data-pack identifiers.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B1AB3-0A87-4D78-9874-5A11F30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6EE7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257F6-9E89-42B8-A4D8-D98B53B8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94B46-3F83-485C-A9DB-0E530008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Operational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B1E6-2AE6-439F-85D7-B57CEC06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Staging, observability, Redis verification, queue drills, Sentry, runbook, production smoke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2D341-F309-4723-A2A5-82C5E91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7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E977F-F0A1-4252-B770-E17B7C24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CDDA-93A2-4A70-9CAB-C565F28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Commercial edition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3D90-DF32-4CE1-8065-DB3D13F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413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Contractor/QS workflows become the first proof market, while the engine remains universal.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95611-B270-4EE1-B435-63B3E26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149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4"/>
          </a:solidFill>
          <a:ln xmlns:a="http://schemas.openxmlformats.org/drawingml/2006/main" w="9525">
            <a:solidFill>
              <a:srgbClr val="4DD8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B3B73-F788-4EC4-9B45-91EF589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673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Decision frame: build the launch package around one excellent workflow story, then expand the pack catalogue around proven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B0FB9-ECD9-4D76-9FC4-9CDED6C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9"/>
                </a:solidFill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4555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2026-07-08T06:26:58.4380000Z</dcterms:created>
  <dcterms:modified xsi:type="dcterms:W3CDTF">2026-07-08T06:26:58.4380000Z</dcterms:modified>
</coreProperties>
</file>